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Italics" charset="1" panose="020F05020202040A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theme" Target="theme/theme2.xml"/><Relationship Id="rId17" Type="http://schemas.openxmlformats.org/officeDocument/2006/relationships/notesSlide" Target="notesSlides/notes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2.xml"/><Relationship Id="rId22" Type="http://schemas.openxmlformats.org/officeDocument/2006/relationships/notesSlide" Target="notesSlides/notesSlide3.xml"/><Relationship Id="rId23" Type="http://schemas.openxmlformats.org/officeDocument/2006/relationships/notesSlide" Target="notesSlides/notesSlide4.xml"/><Relationship Id="rId24" Type="http://schemas.openxmlformats.org/officeDocument/2006/relationships/notesSlide" Target="notesSlides/notesSlide5.xml"/><Relationship Id="rId25" Type="http://schemas.openxmlformats.org/officeDocument/2006/relationships/notesSlide" Target="notesSlides/notesSlide6.xml"/><Relationship Id="rId26" Type="http://schemas.openxmlformats.org/officeDocument/2006/relationships/notesSlide" Target="notesSlides/notesSlide7.xml"/><Relationship Id="rId27" Type="http://schemas.openxmlformats.org/officeDocument/2006/relationships/notesSlide" Target="notesSlides/notesSlide8.xml"/><Relationship Id="rId28" Type="http://schemas.openxmlformats.org/officeDocument/2006/relationships/notesSlide" Target="notesSlides/notes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426203" cy="10312403"/>
            <a:chOff x="0" y="0"/>
            <a:chExt cx="85682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732890"/>
                  </a:lnTo>
                  <a:cubicBezTo>
                    <a:pt x="8568182" y="13742290"/>
                    <a:pt x="8560562" y="13749782"/>
                    <a:pt x="85512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551291" y="13716000"/>
                  </a:lnTo>
                  <a:lnTo>
                    <a:pt x="8551291" y="13732890"/>
                  </a:lnTo>
                  <a:lnTo>
                    <a:pt x="8534400" y="13732890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6426203" cy="10312403"/>
            <a:chOff x="0" y="0"/>
            <a:chExt cx="85682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5344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B1F4B">
                <a:alpha val="30196"/>
              </a:srgbClr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1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732890"/>
                  </a:lnTo>
                  <a:cubicBezTo>
                    <a:pt x="8568182" y="13742290"/>
                    <a:pt x="8560562" y="13749782"/>
                    <a:pt x="85512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551291" y="13716000"/>
                  </a:lnTo>
                  <a:lnTo>
                    <a:pt x="8551291" y="13732890"/>
                  </a:lnTo>
                  <a:lnTo>
                    <a:pt x="8534400" y="13732890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>
                <a:alpha val="30196"/>
              </a:srgbClr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7040880" y="3145536"/>
            <a:ext cx="10698480" cy="694944"/>
            <a:chOff x="0" y="0"/>
            <a:chExt cx="1426464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64639" cy="926592"/>
            </a:xfrm>
            <a:custGeom>
              <a:avLst/>
              <a:gdLst/>
              <a:ahLst/>
              <a:cxnLst/>
              <a:rect r="r" b="b" t="t" l="l"/>
              <a:pathLst>
                <a:path h="926592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67" r="0" b="-249967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2646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t>12-hour early warning from hourly vital-sign and lab time-series data with final PR-AUC 0.740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28183" y="4010663"/>
            <a:ext cx="10723883" cy="98555"/>
            <a:chOff x="0" y="0"/>
            <a:chExt cx="14298511" cy="1314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264639" cy="97536"/>
            </a:xfrm>
            <a:custGeom>
              <a:avLst/>
              <a:gdLst/>
              <a:ahLst/>
              <a:cxnLst/>
              <a:rect r="r" b="b" t="t" l="l"/>
              <a:pathLst>
                <a:path h="97536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98422" cy="131320"/>
            </a:xfrm>
            <a:custGeom>
              <a:avLst/>
              <a:gdLst/>
              <a:ahLst/>
              <a:cxnLst/>
              <a:rect r="r" b="b" t="t" l="l"/>
              <a:pathLst>
                <a:path h="131320" w="14298422">
                  <a:moveTo>
                    <a:pt x="16891" y="0"/>
                  </a:moveTo>
                  <a:lnTo>
                    <a:pt x="14281530" y="0"/>
                  </a:lnTo>
                  <a:cubicBezTo>
                    <a:pt x="14290929" y="0"/>
                    <a:pt x="14298422" y="7620"/>
                    <a:pt x="14298422" y="16891"/>
                  </a:cubicBezTo>
                  <a:lnTo>
                    <a:pt x="14298422" y="114427"/>
                  </a:lnTo>
                  <a:cubicBezTo>
                    <a:pt x="14298422" y="123825"/>
                    <a:pt x="14290802" y="131318"/>
                    <a:pt x="1428153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4281530" y="97536"/>
                  </a:lnTo>
                  <a:lnTo>
                    <a:pt x="14281530" y="114427"/>
                  </a:lnTo>
                  <a:lnTo>
                    <a:pt x="14264639" y="114427"/>
                  </a:lnTo>
                  <a:lnTo>
                    <a:pt x="14264639" y="16891"/>
                  </a:lnTo>
                  <a:lnTo>
                    <a:pt x="14281530" y="16891"/>
                  </a:lnTo>
                  <a:lnTo>
                    <a:pt x="14281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40880" y="4352544"/>
            <a:ext cx="3840480" cy="548640"/>
            <a:chOff x="0" y="0"/>
            <a:chExt cx="51206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1206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55680" y="4352544"/>
            <a:ext cx="6492240" cy="548640"/>
            <a:chOff x="0" y="0"/>
            <a:chExt cx="86563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5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656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t>Patient Deterioration Prediction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40880" y="5303520"/>
            <a:ext cx="3840480" cy="548640"/>
            <a:chOff x="0" y="0"/>
            <a:chExt cx="51206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1206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55680" y="5303520"/>
            <a:ext cx="6492240" cy="548640"/>
            <a:chOff x="0" y="0"/>
            <a:chExt cx="86563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5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656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t>[Add Team Name]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040880" y="6254496"/>
            <a:ext cx="3840480" cy="548640"/>
            <a:chOff x="0" y="0"/>
            <a:chExt cx="51206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1206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55680" y="6254496"/>
            <a:ext cx="6492240" cy="548640"/>
            <a:chOff x="0" y="0"/>
            <a:chExt cx="86563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5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656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t>[Add Team ID]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0880" y="7205472"/>
            <a:ext cx="3840480" cy="548640"/>
            <a:chOff x="0" y="0"/>
            <a:chExt cx="5120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1206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55680" y="7205472"/>
            <a:ext cx="6492240" cy="548640"/>
            <a:chOff x="0" y="0"/>
            <a:chExt cx="86563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5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656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t>[Add Institution]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040880" y="8156448"/>
            <a:ext cx="3840480" cy="548640"/>
            <a:chOff x="0" y="0"/>
            <a:chExt cx="51206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1206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155680" y="8156448"/>
            <a:ext cx="6492240" cy="548640"/>
            <a:chOff x="0" y="0"/>
            <a:chExt cx="86563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5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656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t>26 March 2026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548640" y="9930384"/>
            <a:ext cx="17190720" cy="347472"/>
            <a:chOff x="0" y="0"/>
            <a:chExt cx="22920960" cy="4632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920961" cy="463296"/>
            </a:xfrm>
            <a:custGeom>
              <a:avLst/>
              <a:gdLst/>
              <a:ahLst/>
              <a:cxnLst/>
              <a:rect r="r" b="b" t="t" l="l"/>
              <a:pathLst>
                <a:path h="463296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3996" r="0" b="-913996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2920960" cy="49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-1211575" y="2244433"/>
            <a:ext cx="8823960" cy="5798134"/>
            <a:chOff x="0" y="0"/>
            <a:chExt cx="11765280" cy="7730846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3830654"/>
              <a:ext cx="11765280" cy="1069571"/>
              <a:chOff x="0" y="0"/>
              <a:chExt cx="8046720" cy="73152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0467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4335" r="0" b="-164335"/>
                </a:stretch>
              </a:blipFill>
            </p:spPr>
            <p:txBody>
              <a:bodyPr/>
              <a:p/>
            </p:txBody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804672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b="true" sz="2499" spc="937">
                    <a:solidFill>
                      <a:srgbClr val="CCFBF1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ROUND 1 SUBMISSION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468874" y="4993742"/>
              <a:ext cx="6827520" cy="2737104"/>
              <a:chOff x="0" y="0"/>
              <a:chExt cx="1348646" cy="54066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348646" cy="540663"/>
              </a:xfrm>
              <a:custGeom>
                <a:avLst/>
                <a:gdLst/>
                <a:ahLst/>
                <a:cxnLst/>
                <a:rect r="r" b="b" t="t" l="l"/>
                <a:pathLst>
                  <a:path h="540663" w="1348646">
                    <a:moveTo>
                      <a:pt x="0" y="0"/>
                    </a:moveTo>
                    <a:lnTo>
                      <a:pt x="1348646" y="0"/>
                    </a:lnTo>
                    <a:lnTo>
                      <a:pt x="1348646" y="540663"/>
                    </a:lnTo>
                    <a:lnTo>
                      <a:pt x="0" y="54066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348646" cy="578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57" id="57"/>
            <p:cNvSpPr/>
            <p:nvPr/>
          </p:nvSpPr>
          <p:spPr>
            <a:xfrm flipH="false" flipV="false" rot="0">
              <a:off x="2346954" y="4900225"/>
              <a:ext cx="6918960" cy="2830621"/>
            </a:xfrm>
            <a:custGeom>
              <a:avLst/>
              <a:gdLst/>
              <a:ahLst/>
              <a:cxnLst/>
              <a:rect r="r" b="b" t="t" l="l"/>
              <a:pathLst>
                <a:path h="2830621" w="6918960">
                  <a:moveTo>
                    <a:pt x="0" y="0"/>
                  </a:moveTo>
                  <a:lnTo>
                    <a:pt x="6918960" y="0"/>
                  </a:lnTo>
                  <a:lnTo>
                    <a:pt x="6918960" y="2830621"/>
                  </a:lnTo>
                  <a:lnTo>
                    <a:pt x="0" y="2830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03"/>
              </a:stretch>
            </a:blipFill>
          </p:spPr>
          <p:txBody>
            <a:bodyPr/>
            <a:p/>
          </p:txBody>
        </p:sp>
        <p:sp>
          <p:nvSpPr>
            <p:cNvPr name="Freeform 58" id="58"/>
            <p:cNvSpPr/>
            <p:nvPr/>
          </p:nvSpPr>
          <p:spPr>
            <a:xfrm flipH="false" flipV="false" rot="0">
              <a:off x="2184360" y="0"/>
              <a:ext cx="3375229" cy="3417774"/>
            </a:xfrm>
            <a:custGeom>
              <a:avLst/>
              <a:gdLst/>
              <a:ahLst/>
              <a:cxnLst/>
              <a:rect r="r" b="b" t="t" l="l"/>
              <a:pathLst>
                <a:path h="3417774" w="3375229">
                  <a:moveTo>
                    <a:pt x="0" y="0"/>
                  </a:moveTo>
                  <a:lnTo>
                    <a:pt x="3375230" y="0"/>
                  </a:lnTo>
                  <a:lnTo>
                    <a:pt x="3375230" y="3417774"/>
                  </a:lnTo>
                  <a:lnTo>
                    <a:pt x="0" y="34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Freeform 59" id="59"/>
            <p:cNvSpPr/>
            <p:nvPr/>
          </p:nvSpPr>
          <p:spPr>
            <a:xfrm flipH="false" flipV="false" rot="0">
              <a:off x="5960280" y="0"/>
              <a:ext cx="3620640" cy="3608990"/>
            </a:xfrm>
            <a:custGeom>
              <a:avLst/>
              <a:gdLst/>
              <a:ahLst/>
              <a:cxnLst/>
              <a:rect r="r" b="b" t="t" l="l"/>
              <a:pathLst>
                <a:path h="3608990" w="3620640">
                  <a:moveTo>
                    <a:pt x="0" y="0"/>
                  </a:moveTo>
                  <a:lnTo>
                    <a:pt x="3620640" y="0"/>
                  </a:lnTo>
                  <a:lnTo>
                    <a:pt x="3620640" y="3608990"/>
                  </a:lnTo>
                  <a:lnTo>
                    <a:pt x="0" y="36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2502" t="0" r="-38521" b="0"/>
              </a:stretch>
            </a:blipFill>
          </p:spPr>
          <p:txBody>
            <a:bodyPr/>
            <a:p/>
          </p:txBody>
        </p:sp>
      </p:grpSp>
      <p:sp>
        <p:nvSpPr>
          <p:cNvPr name="TextBox 60" id="60"/>
          <p:cNvSpPr txBox="true"/>
          <p:nvPr/>
        </p:nvSpPr>
        <p:spPr>
          <a:xfrm rot="0">
            <a:off x="7040880" y="882015"/>
            <a:ext cx="10698480" cy="213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t>Patient Deterioration Prediction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432304" y="241178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Context &amp; Motivation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9184" y="1389893"/>
            <a:ext cx="17190720" cy="475488"/>
            <a:chOff x="0" y="0"/>
            <a:chExt cx="229209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Describe the clinical or real-world problem your solution addresses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3063" y="1925831"/>
            <a:ext cx="5511803" cy="1854203"/>
            <a:chOff x="0" y="0"/>
            <a:chExt cx="7349071" cy="24722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315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89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455291"/>
                  </a:lnTo>
                  <a:cubicBezTo>
                    <a:pt x="7348982" y="2464689"/>
                    <a:pt x="7341362" y="2472182"/>
                    <a:pt x="73320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7332091" y="2438400"/>
                  </a:lnTo>
                  <a:lnTo>
                    <a:pt x="7332091" y="2455291"/>
                  </a:lnTo>
                  <a:lnTo>
                    <a:pt x="7315200" y="24552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5760" y="2011680"/>
            <a:ext cx="5486400" cy="950976"/>
            <a:chOff x="0" y="0"/>
            <a:chExt cx="7315200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7315200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t>5.4%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5760" y="2980944"/>
            <a:ext cx="5486400" cy="640080"/>
            <a:chOff x="0" y="0"/>
            <a:chExt cx="731520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t>positive hourly records in the official training CSV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05223" y="1925831"/>
            <a:ext cx="5511803" cy="1854203"/>
            <a:chOff x="0" y="0"/>
            <a:chExt cx="7349071" cy="24722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315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89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455291"/>
                  </a:lnTo>
                  <a:cubicBezTo>
                    <a:pt x="7348982" y="2464689"/>
                    <a:pt x="7341362" y="2472182"/>
                    <a:pt x="73320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7332091" y="2438400"/>
                  </a:lnTo>
                  <a:lnTo>
                    <a:pt x="7332091" y="2455291"/>
                  </a:lnTo>
                  <a:lnTo>
                    <a:pt x="7315200" y="24552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17920" y="2011680"/>
            <a:ext cx="5486400" cy="950976"/>
            <a:chOff x="0" y="0"/>
            <a:chExt cx="7315200" cy="12679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7315200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t>293,248+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17920" y="2980944"/>
            <a:ext cx="5486400" cy="640080"/>
            <a:chOff x="0" y="0"/>
            <a:chExt cx="731520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15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t>hourly clinical records used for model development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53063" y="4028951"/>
            <a:ext cx="17581883" cy="2677163"/>
            <a:chOff x="0" y="0"/>
            <a:chExt cx="23442511" cy="35695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3408639" cy="3535680"/>
            </a:xfrm>
            <a:custGeom>
              <a:avLst/>
              <a:gdLst/>
              <a:ahLst/>
              <a:cxnLst/>
              <a:rect r="r" b="b" t="t" l="l"/>
              <a:pathLst>
                <a:path h="353568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442422" cy="3569462"/>
            </a:xfrm>
            <a:custGeom>
              <a:avLst/>
              <a:gdLst/>
              <a:ahLst/>
              <a:cxnLst/>
              <a:rect r="r" b="b" t="t" l="l"/>
              <a:pathLst>
                <a:path h="3569462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3552571"/>
                  </a:lnTo>
                  <a:cubicBezTo>
                    <a:pt x="23442422" y="3561969"/>
                    <a:pt x="23434802" y="3569462"/>
                    <a:pt x="23425530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23425530" y="3535680"/>
                  </a:lnTo>
                  <a:lnTo>
                    <a:pt x="23425530" y="3552571"/>
                  </a:lnTo>
                  <a:lnTo>
                    <a:pt x="23408639" y="355257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4944" y="4206240"/>
            <a:ext cx="16459200" cy="475488"/>
            <a:chOff x="0" y="0"/>
            <a:chExt cx="2194560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4944" y="4791456"/>
            <a:ext cx="16642080" cy="1645920"/>
            <a:chOff x="0" y="0"/>
            <a:chExt cx="22189440" cy="2194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894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015" r="0" b="-147015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218944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t>The task is to predict whether a hospitalised patient will physiologically deteriorate within the next 12 hours.</a:t>
              </a:r>
            </a:p>
            <a:p>
              <a:r>
                <a:t>Early warning matters because deterioration signals can emerge gradually across vitals, labs, oxygen support, and nursing context.</a:t>
              </a:r>
            </a:p>
            <a:p>
              <a:r>
                <a:t>A reliable risk score can help staff prioritise monitoring and intervention before the patient reaches a critical state.</a:t>
              </a:r>
            </a:p>
            <a:p>
              <a:r>
                <a:t>Our approach focuses on high-risk detection while controlling false alarms in an imbalanced clinical dataset.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53063" y="6955031"/>
            <a:ext cx="17581883" cy="2585723"/>
            <a:chOff x="0" y="0"/>
            <a:chExt cx="23442511" cy="34476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3408639" cy="3413760"/>
            </a:xfrm>
            <a:custGeom>
              <a:avLst/>
              <a:gdLst/>
              <a:ahLst/>
              <a:cxnLst/>
              <a:rect r="r" b="b" t="t" l="l"/>
              <a:pathLst>
                <a:path h="341376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442422" cy="3447542"/>
            </a:xfrm>
            <a:custGeom>
              <a:avLst/>
              <a:gdLst/>
              <a:ahLst/>
              <a:cxnLst/>
              <a:rect r="r" b="b" t="t" l="l"/>
              <a:pathLst>
                <a:path h="3447542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3430651"/>
                  </a:lnTo>
                  <a:cubicBezTo>
                    <a:pt x="23442422" y="3440049"/>
                    <a:pt x="23434802" y="3447542"/>
                    <a:pt x="23425530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23425530" y="3413760"/>
                  </a:lnTo>
                  <a:lnTo>
                    <a:pt x="23425530" y="3430651"/>
                  </a:lnTo>
                  <a:lnTo>
                    <a:pt x="23408639" y="343065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694944" y="7114032"/>
            <a:ext cx="16459200" cy="475488"/>
            <a:chOff x="0" y="0"/>
            <a:chExt cx="21945600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94944" y="7699248"/>
            <a:ext cx="16642080" cy="1554480"/>
            <a:chOff x="0" y="0"/>
            <a:chExt cx="22189440" cy="2072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8943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604" r="0" b="-158604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21894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t>Low event prevalence makes plain accuracy misleading.</a:t>
              </a:r>
            </a:p>
            <a:p>
              <a:r>
                <a:t>The dataset has no native patient ID, so admissions must be reconstructed from hour resets.</a:t>
              </a:r>
            </a:p>
            <a:p>
              <a:r>
                <a:t>Simple threshold rules miss nonlinear temporal trends across labs and vitals.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402923" y="62112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0" id="60"/>
          <p:cNvGrpSpPr/>
          <p:nvPr/>
        </p:nvGrpSpPr>
        <p:grpSpPr>
          <a:xfrm rot="0">
            <a:off x="15636240" y="174184"/>
            <a:ext cx="2433003" cy="1028252"/>
            <a:chOff x="0" y="0"/>
            <a:chExt cx="3244004" cy="1371003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651760" y="182880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Approach &amp; Methodology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389893"/>
            <a:ext cx="17190720" cy="475488"/>
            <a:chOff x="0" y="0"/>
            <a:chExt cx="229209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are you solving the problem?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6389" y="1925831"/>
            <a:ext cx="8022841" cy="7523483"/>
            <a:chOff x="0" y="0"/>
            <a:chExt cx="10697121" cy="100313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5888" y="16891"/>
              <a:ext cx="10665262" cy="9997440"/>
            </a:xfrm>
            <a:custGeom>
              <a:avLst/>
              <a:gdLst/>
              <a:ahLst/>
              <a:cxnLst/>
              <a:rect r="r" b="b" t="t" l="l"/>
              <a:pathLst>
                <a:path h="9997440" w="10665262">
                  <a:moveTo>
                    <a:pt x="0" y="0"/>
                  </a:moveTo>
                  <a:lnTo>
                    <a:pt x="10665262" y="0"/>
                  </a:lnTo>
                  <a:lnTo>
                    <a:pt x="10665262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7037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10697037">
                  <a:moveTo>
                    <a:pt x="15888" y="0"/>
                  </a:moveTo>
                  <a:lnTo>
                    <a:pt x="10681150" y="0"/>
                  </a:lnTo>
                  <a:cubicBezTo>
                    <a:pt x="10689989" y="0"/>
                    <a:pt x="10697037" y="7620"/>
                    <a:pt x="10697037" y="16891"/>
                  </a:cubicBezTo>
                  <a:lnTo>
                    <a:pt x="10697037" y="10014331"/>
                  </a:lnTo>
                  <a:cubicBezTo>
                    <a:pt x="10697037" y="10023729"/>
                    <a:pt x="10689870" y="10031222"/>
                    <a:pt x="10681150" y="10031222"/>
                  </a:cubicBezTo>
                  <a:lnTo>
                    <a:pt x="15888" y="10031222"/>
                  </a:lnTo>
                  <a:cubicBezTo>
                    <a:pt x="7048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168" y="0"/>
                    <a:pt x="15888" y="0"/>
                  </a:cubicBezTo>
                  <a:moveTo>
                    <a:pt x="15888" y="33909"/>
                  </a:moveTo>
                  <a:lnTo>
                    <a:pt x="15888" y="16891"/>
                  </a:lnTo>
                  <a:lnTo>
                    <a:pt x="31895" y="16891"/>
                  </a:lnTo>
                  <a:lnTo>
                    <a:pt x="31895" y="10014331"/>
                  </a:lnTo>
                  <a:lnTo>
                    <a:pt x="15888" y="10014331"/>
                  </a:lnTo>
                  <a:lnTo>
                    <a:pt x="15888" y="9997440"/>
                  </a:lnTo>
                  <a:lnTo>
                    <a:pt x="10681150" y="9997440"/>
                  </a:lnTo>
                  <a:lnTo>
                    <a:pt x="10681150" y="10014331"/>
                  </a:lnTo>
                  <a:lnTo>
                    <a:pt x="10665261" y="10014331"/>
                  </a:lnTo>
                  <a:lnTo>
                    <a:pt x="10665261" y="16891"/>
                  </a:lnTo>
                  <a:lnTo>
                    <a:pt x="10681150" y="16891"/>
                  </a:lnTo>
                  <a:lnTo>
                    <a:pt x="10681150" y="33909"/>
                  </a:lnTo>
                  <a:lnTo>
                    <a:pt x="15888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8270" y="2366967"/>
            <a:ext cx="7680960" cy="475488"/>
            <a:chOff x="0" y="0"/>
            <a:chExt cx="1024128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41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65889" y="3042480"/>
            <a:ext cx="7863840" cy="3349625"/>
            <a:chOff x="0" y="0"/>
            <a:chExt cx="10485120" cy="44661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4466167"/>
            </a:xfrm>
            <a:custGeom>
              <a:avLst/>
              <a:gdLst/>
              <a:ahLst/>
              <a:cxnLst/>
              <a:rect r="r" b="b" t="t" l="l"/>
              <a:pathLst>
                <a:path h="446616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66167"/>
                  </a:lnTo>
                  <a:lnTo>
                    <a:pt x="0" y="4466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433" t="0" r="-54433" b="-9109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0485120" cy="4628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3894"/>
                </a:lnSpc>
                <a:buFont typeface="Arial"/>
                <a:buChar char="•"/>
              </a:pPr>
              <a:r>
                <a:t>Model type: Binary classification</a:t>
              </a:r>
            </a:p>
            <a:p>
              <a:r>
                <a:t>Input: Hourly CSV records with vitals, labs, demographics, and care context</a:t>
              </a:r>
            </a:p>
            <a:p>
              <a:r>
                <a:t>Output: 12-hour deterioration risk score + watch/alert band</a:t>
              </a:r>
            </a:p>
            <a:p>
              <a:r>
                <a:t>Frameworks: CatBoost, PyTorch, scikit-learn, pandas, Streamlit</a:t>
              </a:r>
            </a:p>
            <a:p>
              <a:r>
                <a:t>Training: Group-aware 80/20 holdout by reconstructed episode; final tuned CatBoost retrained on the development split</a:t>
              </a:r>
            </a:p>
            <a:p>
              <a:r>
                <a:t>Final config: depth 8, 1450 trees, lr 0.048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85578" y="1925831"/>
            <a:ext cx="8529323" cy="7523483"/>
            <a:chOff x="0" y="0"/>
            <a:chExt cx="11372431" cy="100313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33856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7234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0014331"/>
                  </a:lnTo>
                  <a:cubicBezTo>
                    <a:pt x="11372342" y="10023729"/>
                    <a:pt x="11364722" y="10031222"/>
                    <a:pt x="1135545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11355451" y="9997440"/>
                  </a:lnTo>
                  <a:lnTo>
                    <a:pt x="11355451" y="10014331"/>
                  </a:lnTo>
                  <a:lnTo>
                    <a:pt x="11338560" y="1001433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78340" y="2366967"/>
            <a:ext cx="7680960" cy="475488"/>
            <a:chOff x="0" y="0"/>
            <a:chExt cx="1024128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41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 &amp; RATIONALE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98869" y="3042480"/>
            <a:ext cx="7863840" cy="3349625"/>
            <a:chOff x="0" y="0"/>
            <a:chExt cx="10485120" cy="44661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85120" cy="4466167"/>
            </a:xfrm>
            <a:custGeom>
              <a:avLst/>
              <a:gdLst/>
              <a:ahLst/>
              <a:cxnLst/>
              <a:rect r="r" b="b" t="t" l="l"/>
              <a:pathLst>
                <a:path h="446616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66167"/>
                  </a:lnTo>
                  <a:lnTo>
                    <a:pt x="0" y="4466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433" t="0" r="-54433" b="-91090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161925"/>
              <a:ext cx="10485120" cy="4628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3894"/>
                </a:lnSpc>
                <a:buFont typeface="Arial"/>
                <a:buChar char="•"/>
              </a:pPr>
              <a:r>
                <a:t>Episode-aware preprocessing reconstructs admissions when hour_from_admission resets.</a:t>
              </a:r>
            </a:p>
            <a:p>
              <a:r>
                <a:t>Leakage-safe feature engineering adds clinical signals, lags, deltas, and rolling windows to reach 212 model features.</a:t>
              </a:r>
            </a:p>
            <a:p>
              <a:r>
                <a:t>We benchmarked CatBoost against TCN, GRU+Attention, and Transformer encoders, then improved the repo best PR-AUC by 0.007.</a:t>
              </a:r>
            </a:p>
            <a:p>
              <a:r>
                <a:t>Primary model selection uses PR-AUC because the positive class is only about 5.4% of training rows.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410503" y="160468"/>
            <a:ext cx="2433003" cy="1028252"/>
            <a:chOff x="0" y="0"/>
            <a:chExt cx="3244004" cy="1371003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353063" y="40929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504757" y="215208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68729" y="1401068"/>
            <a:ext cx="18190969" cy="475488"/>
            <a:chOff x="0" y="0"/>
            <a:chExt cx="24254625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254627" cy="633984"/>
            </a:xfrm>
            <a:custGeom>
              <a:avLst/>
              <a:gdLst/>
              <a:ahLst/>
              <a:cxnLst/>
              <a:rect r="r" b="b" t="t" l="l"/>
              <a:pathLst>
                <a:path h="633984" w="24254627">
                  <a:moveTo>
                    <a:pt x="0" y="0"/>
                  </a:moveTo>
                  <a:lnTo>
                    <a:pt x="24254627" y="0"/>
                  </a:lnTo>
                  <a:lnTo>
                    <a:pt x="24254627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5498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254625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Describe the dataset provided and how you are using it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3063" y="1925831"/>
            <a:ext cx="17581883" cy="2402843"/>
            <a:chOff x="0" y="0"/>
            <a:chExt cx="23442511" cy="3203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408639" cy="3169920"/>
            </a:xfrm>
            <a:custGeom>
              <a:avLst/>
              <a:gdLst/>
              <a:ahLst/>
              <a:cxnLst/>
              <a:rect r="r" b="b" t="t" l="l"/>
              <a:pathLst>
                <a:path h="31699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424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3186811"/>
                  </a:lnTo>
                  <a:cubicBezTo>
                    <a:pt x="23442422" y="3196209"/>
                    <a:pt x="23434802" y="3203702"/>
                    <a:pt x="23425530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3425530" y="3169920"/>
                  </a:lnTo>
                  <a:lnTo>
                    <a:pt x="23425530" y="3186811"/>
                  </a:lnTo>
                  <a:lnTo>
                    <a:pt x="23408639" y="318681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" y="2121408"/>
            <a:ext cx="16642080" cy="512064"/>
            <a:chOff x="0" y="0"/>
            <a:chExt cx="2218944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DATASET DIMENSIONS  —  Official provided CSV files only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2064" y="2779776"/>
            <a:ext cx="3200400" cy="475488"/>
            <a:chOff x="0" y="0"/>
            <a:chExt cx="4267200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67200" cy="633984"/>
            </a:xfrm>
            <a:custGeom>
              <a:avLst/>
              <a:gdLst/>
              <a:ahLst/>
              <a:cxnLst/>
              <a:rect r="r" b="b" t="t" l="l"/>
              <a:pathLst>
                <a:path h="63398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267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t>Training CSV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064" y="3291840"/>
            <a:ext cx="3200400" cy="731520"/>
            <a:chOff x="0" y="0"/>
            <a:chExt cx="426720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267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t>293,248 rows x 22 columns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986784" y="2779776"/>
            <a:ext cx="3200400" cy="475488"/>
            <a:chOff x="0" y="0"/>
            <a:chExt cx="426720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67200" cy="633984"/>
            </a:xfrm>
            <a:custGeom>
              <a:avLst/>
              <a:gdLst/>
              <a:ahLst/>
              <a:cxnLst/>
              <a:rect r="r" b="b" t="t" l="l"/>
              <a:pathLst>
                <a:path h="63398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267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t>Blind Validation CSV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986784" y="3291840"/>
            <a:ext cx="3200400" cy="731520"/>
            <a:chOff x="0" y="0"/>
            <a:chExt cx="426720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267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t>62,487 rows x 21 columns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61504" y="2779776"/>
            <a:ext cx="3200400" cy="475488"/>
            <a:chOff x="0" y="0"/>
            <a:chExt cx="4267200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67200" cy="633984"/>
            </a:xfrm>
            <a:custGeom>
              <a:avLst/>
              <a:gdLst/>
              <a:ahLst/>
              <a:cxnLst/>
              <a:rect r="r" b="b" t="t" l="l"/>
              <a:pathLst>
                <a:path h="63398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267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t>Total Dataset Size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61504" y="3291840"/>
            <a:ext cx="3200400" cy="731520"/>
            <a:chOff x="0" y="0"/>
            <a:chExt cx="426720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267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t>35,811,452 bytes (35.81 MB)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36224" y="2779776"/>
            <a:ext cx="3200400" cy="475488"/>
            <a:chOff x="0" y="0"/>
            <a:chExt cx="426720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0" cy="633984"/>
            </a:xfrm>
            <a:custGeom>
              <a:avLst/>
              <a:gdLst/>
              <a:ahLst/>
              <a:cxnLst/>
              <a:rect r="r" b="b" t="t" l="l"/>
              <a:pathLst>
                <a:path h="63398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4267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t>Reconstructed Episodes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36224" y="3291840"/>
            <a:ext cx="3200400" cy="731520"/>
            <a:chOff x="0" y="0"/>
            <a:chExt cx="426720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267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t>7,000 training admissions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410944" y="2779776"/>
            <a:ext cx="3200400" cy="475488"/>
            <a:chOff x="0" y="0"/>
            <a:chExt cx="4267200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633984"/>
            </a:xfrm>
            <a:custGeom>
              <a:avLst/>
              <a:gdLst/>
              <a:ahLst/>
              <a:cxnLst/>
              <a:rect r="r" b="b" t="t" l="l"/>
              <a:pathLst>
                <a:path h="63398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42672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t>Per-file Sizes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410944" y="3291840"/>
            <a:ext cx="3200400" cy="731520"/>
            <a:chOff x="0" y="0"/>
            <a:chExt cx="4267200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6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267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t>train.csv: 29,630,460 bytes (29.63 MB)</a:t>
              </a:r>
            </a:p>
            <a:p>
              <a:r>
                <a:t>val_no_labels.csv: 6,180,992 bytes (6.18 MB)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53063" y="4632455"/>
            <a:ext cx="8529323" cy="4816859"/>
            <a:chOff x="0" y="0"/>
            <a:chExt cx="11372431" cy="64224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1338560" cy="6388608"/>
            </a:xfrm>
            <a:custGeom>
              <a:avLst/>
              <a:gdLst/>
              <a:ahLst/>
              <a:cxnLst/>
              <a:rect r="r" b="b" t="t" l="l"/>
              <a:pathLst>
                <a:path h="638860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388608"/>
                  </a:lnTo>
                  <a:lnTo>
                    <a:pt x="0" y="63886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372342" cy="6422390"/>
            </a:xfrm>
            <a:custGeom>
              <a:avLst/>
              <a:gdLst/>
              <a:ahLst/>
              <a:cxnLst/>
              <a:rect r="r" b="b" t="t" l="l"/>
              <a:pathLst>
                <a:path h="642239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6405499"/>
                  </a:lnTo>
                  <a:cubicBezTo>
                    <a:pt x="11372342" y="6414897"/>
                    <a:pt x="11364722" y="6422390"/>
                    <a:pt x="11355451" y="6422390"/>
                  </a:cubicBezTo>
                  <a:lnTo>
                    <a:pt x="16891" y="6422390"/>
                  </a:lnTo>
                  <a:cubicBezTo>
                    <a:pt x="7493" y="6422390"/>
                    <a:pt x="0" y="6414770"/>
                    <a:pt x="0" y="6405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05499"/>
                  </a:lnTo>
                  <a:lnTo>
                    <a:pt x="16891" y="6405499"/>
                  </a:lnTo>
                  <a:lnTo>
                    <a:pt x="16891" y="6388608"/>
                  </a:lnTo>
                  <a:lnTo>
                    <a:pt x="11355451" y="6388608"/>
                  </a:lnTo>
                  <a:lnTo>
                    <a:pt x="11355451" y="6405499"/>
                  </a:lnTo>
                  <a:lnTo>
                    <a:pt x="11338560" y="640549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4944" y="4828032"/>
            <a:ext cx="7680960" cy="475488"/>
            <a:chOff x="0" y="0"/>
            <a:chExt cx="1024128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241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DETAILS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99367" y="5510279"/>
            <a:ext cx="8255003" cy="683771"/>
            <a:chOff x="0" y="0"/>
            <a:chExt cx="11006671" cy="9116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09728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/>
            <a:p/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006582" cy="911608"/>
            </a:xfrm>
            <a:custGeom>
              <a:avLst/>
              <a:gdLst/>
              <a:ahLst/>
              <a:cxnLst/>
              <a:rect r="r" b="b" t="t" l="l"/>
              <a:pathLst>
                <a:path h="91160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94715"/>
                  </a:lnTo>
                  <a:cubicBezTo>
                    <a:pt x="11006582" y="904113"/>
                    <a:pt x="10998962" y="911606"/>
                    <a:pt x="10989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989691" y="877824"/>
                  </a:lnTo>
                  <a:lnTo>
                    <a:pt x="10989691" y="894715"/>
                  </a:lnTo>
                  <a:lnTo>
                    <a:pt x="10972800" y="89471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8368" y="5614416"/>
            <a:ext cx="2926080" cy="475488"/>
            <a:chOff x="0" y="0"/>
            <a:chExt cx="3901440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Name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749040" y="5614416"/>
            <a:ext cx="4754880" cy="475488"/>
            <a:chOff x="0" y="0"/>
            <a:chExt cx="6339840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3398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t>Official AesCode patient deterioration time-series CSV dataset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367" y="6296663"/>
            <a:ext cx="8255003" cy="683771"/>
            <a:chOff x="0" y="0"/>
            <a:chExt cx="11006671" cy="9116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9728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006582" cy="911608"/>
            </a:xfrm>
            <a:custGeom>
              <a:avLst/>
              <a:gdLst/>
              <a:ahLst/>
              <a:cxnLst/>
              <a:rect r="r" b="b" t="t" l="l"/>
              <a:pathLst>
                <a:path h="91160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94715"/>
                  </a:lnTo>
                  <a:cubicBezTo>
                    <a:pt x="11006582" y="904113"/>
                    <a:pt x="10998962" y="911606"/>
                    <a:pt x="10989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989691" y="877824"/>
                  </a:lnTo>
                  <a:lnTo>
                    <a:pt x="10989691" y="894715"/>
                  </a:lnTo>
                  <a:lnTo>
                    <a:pt x="10972800" y="89471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8368" y="6400800"/>
            <a:ext cx="2926080" cy="475488"/>
            <a:chOff x="0" y="0"/>
            <a:chExt cx="3901440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Classes / Labels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749040" y="6400800"/>
            <a:ext cx="4754880" cy="475488"/>
            <a:chOff x="0" y="0"/>
            <a:chExt cx="633984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3398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t>Binary label: deterioration_next_12h = 0 or 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99367" y="7083047"/>
            <a:ext cx="8255003" cy="683771"/>
            <a:chOff x="0" y="0"/>
            <a:chExt cx="11006671" cy="91169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9728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/>
            <a:p/>
          </p:txBody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006582" cy="911608"/>
            </a:xfrm>
            <a:custGeom>
              <a:avLst/>
              <a:gdLst/>
              <a:ahLst/>
              <a:cxnLst/>
              <a:rect r="r" b="b" t="t" l="l"/>
              <a:pathLst>
                <a:path h="91160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94715"/>
                  </a:lnTo>
                  <a:cubicBezTo>
                    <a:pt x="11006582" y="904113"/>
                    <a:pt x="10998962" y="911606"/>
                    <a:pt x="10989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989691" y="877824"/>
                  </a:lnTo>
                  <a:lnTo>
                    <a:pt x="10989691" y="894715"/>
                  </a:lnTo>
                  <a:lnTo>
                    <a:pt x="10972800" y="89471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658368" y="7187184"/>
            <a:ext cx="2926080" cy="475488"/>
            <a:chOff x="0" y="0"/>
            <a:chExt cx="390144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/ Val / Test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3749040" y="7187184"/>
            <a:ext cx="4754880" cy="475488"/>
            <a:chOff x="0" y="0"/>
            <a:chExt cx="6339840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3398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t>Provided: train.csv + blind val_no_labels.csv; internal model eval: 80% dev / 20% episode holdout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99367" y="7869431"/>
            <a:ext cx="8255003" cy="683771"/>
            <a:chOff x="0" y="0"/>
            <a:chExt cx="11006671" cy="9116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09728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006582" cy="911608"/>
            </a:xfrm>
            <a:custGeom>
              <a:avLst/>
              <a:gdLst/>
              <a:ahLst/>
              <a:cxnLst/>
              <a:rect r="r" b="b" t="t" l="l"/>
              <a:pathLst>
                <a:path h="91160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94715"/>
                  </a:lnTo>
                  <a:cubicBezTo>
                    <a:pt x="11006582" y="904113"/>
                    <a:pt x="10998962" y="911606"/>
                    <a:pt x="10989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989691" y="877824"/>
                  </a:lnTo>
                  <a:lnTo>
                    <a:pt x="10989691" y="894715"/>
                  </a:lnTo>
                  <a:lnTo>
                    <a:pt x="10972800" y="89471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658368" y="7973568"/>
            <a:ext cx="2926080" cy="475488"/>
            <a:chOff x="0" y="0"/>
            <a:chExt cx="390144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Format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3749040" y="7973568"/>
            <a:ext cx="4754880" cy="475488"/>
            <a:chOff x="0" y="0"/>
            <a:chExt cx="6339840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  <p:txBody>
            <a:bodyPr/>
            <a:p/>
          </p:txBody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3398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t>CSV with hourly vitals, labs, oxygen support, demographics, and admission context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99367" y="8655815"/>
            <a:ext cx="8255003" cy="683771"/>
            <a:chOff x="0" y="0"/>
            <a:chExt cx="11006671" cy="91169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09728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/>
            <a:p/>
          </p:txBody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006582" cy="911608"/>
            </a:xfrm>
            <a:custGeom>
              <a:avLst/>
              <a:gdLst/>
              <a:ahLst/>
              <a:cxnLst/>
              <a:rect r="r" b="b" t="t" l="l"/>
              <a:pathLst>
                <a:path h="91160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94715"/>
                  </a:lnTo>
                  <a:cubicBezTo>
                    <a:pt x="11006582" y="904113"/>
                    <a:pt x="10998962" y="911606"/>
                    <a:pt x="10989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989691" y="877824"/>
                  </a:lnTo>
                  <a:lnTo>
                    <a:pt x="10989691" y="894715"/>
                  </a:lnTo>
                  <a:lnTo>
                    <a:pt x="10972800" y="89471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58368" y="8759952"/>
            <a:ext cx="2926080" cy="475488"/>
            <a:chOff x="0" y="0"/>
            <a:chExt cx="3901440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Balance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3749040" y="8759952"/>
            <a:ext cx="4754880" cy="475488"/>
            <a:chOff x="0" y="0"/>
            <a:chExt cx="633984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  <p:txBody>
            <a:bodyPr/>
            <a:p/>
          </p:txBody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3398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t>Imbalanced: 15,850 positive vs 277,398 negative rows</a:t>
              </a:r>
            </a:p>
            <a:p>
              <a:r>
                <a:t>Positive rate = 5.40%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314183" y="4632455"/>
            <a:ext cx="8529323" cy="4816859"/>
            <a:chOff x="0" y="0"/>
            <a:chExt cx="11372431" cy="642247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1338560" cy="6388608"/>
            </a:xfrm>
            <a:custGeom>
              <a:avLst/>
              <a:gdLst/>
              <a:ahLst/>
              <a:cxnLst/>
              <a:rect r="r" b="b" t="t" l="l"/>
              <a:pathLst>
                <a:path h="638860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388608"/>
                  </a:lnTo>
                  <a:lnTo>
                    <a:pt x="0" y="63886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372342" cy="6422390"/>
            </a:xfrm>
            <a:custGeom>
              <a:avLst/>
              <a:gdLst/>
              <a:ahLst/>
              <a:cxnLst/>
              <a:rect r="r" b="b" t="t" l="l"/>
              <a:pathLst>
                <a:path h="642239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6405499"/>
                  </a:lnTo>
                  <a:cubicBezTo>
                    <a:pt x="11372342" y="6414897"/>
                    <a:pt x="11364722" y="6422390"/>
                    <a:pt x="11355451" y="6422390"/>
                  </a:cubicBezTo>
                  <a:lnTo>
                    <a:pt x="16891" y="6422390"/>
                  </a:lnTo>
                  <a:cubicBezTo>
                    <a:pt x="7493" y="6422390"/>
                    <a:pt x="0" y="6414770"/>
                    <a:pt x="0" y="6405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05499"/>
                  </a:lnTo>
                  <a:lnTo>
                    <a:pt x="16891" y="6405499"/>
                  </a:lnTo>
                  <a:lnTo>
                    <a:pt x="16891" y="6388608"/>
                  </a:lnTo>
                  <a:lnTo>
                    <a:pt x="11355451" y="6388608"/>
                  </a:lnTo>
                  <a:lnTo>
                    <a:pt x="11355451" y="6405499"/>
                  </a:lnTo>
                  <a:lnTo>
                    <a:pt x="11338560" y="640549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56064" y="4828032"/>
            <a:ext cx="7680960" cy="512064"/>
            <a:chOff x="0" y="0"/>
            <a:chExt cx="1024128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  <p:txBody>
            <a:bodyPr/>
            <a:p/>
          </p:txBody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DATA DISTRIBUTION  —  Training label distribution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771383" y="5693159"/>
            <a:ext cx="1451867" cy="2037083"/>
            <a:chOff x="0" y="0"/>
            <a:chExt cx="1935823" cy="27161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9019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935734" cy="2716022"/>
            </a:xfrm>
            <a:custGeom>
              <a:avLst/>
              <a:gdLst/>
              <a:ahLst/>
              <a:cxnLst/>
              <a:rect r="r" b="b" t="t" l="l"/>
              <a:pathLst>
                <a:path h="2716022" w="1935734">
                  <a:moveTo>
                    <a:pt x="16891" y="0"/>
                  </a:moveTo>
                  <a:lnTo>
                    <a:pt x="1918843" y="0"/>
                  </a:lnTo>
                  <a:cubicBezTo>
                    <a:pt x="1928241" y="0"/>
                    <a:pt x="1935734" y="7620"/>
                    <a:pt x="1935734" y="16891"/>
                  </a:cubicBezTo>
                  <a:lnTo>
                    <a:pt x="1935734" y="2699131"/>
                  </a:lnTo>
                  <a:cubicBezTo>
                    <a:pt x="1935734" y="2708529"/>
                    <a:pt x="1928114" y="2716022"/>
                    <a:pt x="1918843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918843" y="2682240"/>
                  </a:lnTo>
                  <a:lnTo>
                    <a:pt x="1918843" y="2699131"/>
                  </a:lnTo>
                  <a:lnTo>
                    <a:pt x="1901952" y="2699131"/>
                  </a:lnTo>
                  <a:lnTo>
                    <a:pt x="1901952" y="16891"/>
                  </a:lnTo>
                  <a:lnTo>
                    <a:pt x="1918843" y="16891"/>
                  </a:lnTo>
                  <a:lnTo>
                    <a:pt x="1918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692640" y="7973568"/>
            <a:ext cx="1609344" cy="438912"/>
            <a:chOff x="0" y="0"/>
            <a:chExt cx="2145792" cy="58521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45792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145792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728199" y="6424679"/>
            <a:ext cx="1451867" cy="1305563"/>
            <a:chOff x="0" y="0"/>
            <a:chExt cx="1935823" cy="174075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9019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891B2"/>
            </a:solidFill>
          </p:spPr>
          <p:txBody>
            <a:bodyPr/>
            <a:p/>
          </p:txBody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935734" cy="1740662"/>
            </a:xfrm>
            <a:custGeom>
              <a:avLst/>
              <a:gdLst/>
              <a:ahLst/>
              <a:cxnLst/>
              <a:rect r="r" b="b" t="t" l="l"/>
              <a:pathLst>
                <a:path h="1740662" w="1935734">
                  <a:moveTo>
                    <a:pt x="16891" y="0"/>
                  </a:moveTo>
                  <a:lnTo>
                    <a:pt x="1918843" y="0"/>
                  </a:lnTo>
                  <a:cubicBezTo>
                    <a:pt x="1928241" y="0"/>
                    <a:pt x="1935734" y="7620"/>
                    <a:pt x="1935734" y="16891"/>
                  </a:cubicBezTo>
                  <a:lnTo>
                    <a:pt x="1935734" y="1723771"/>
                  </a:lnTo>
                  <a:cubicBezTo>
                    <a:pt x="1935734" y="1733169"/>
                    <a:pt x="1928114" y="1740662"/>
                    <a:pt x="191884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918843" y="1706880"/>
                  </a:lnTo>
                  <a:lnTo>
                    <a:pt x="1918843" y="1723771"/>
                  </a:lnTo>
                  <a:lnTo>
                    <a:pt x="1901952" y="1723771"/>
                  </a:lnTo>
                  <a:lnTo>
                    <a:pt x="1901952" y="16891"/>
                  </a:lnTo>
                  <a:lnTo>
                    <a:pt x="1918843" y="16891"/>
                  </a:lnTo>
                  <a:lnTo>
                    <a:pt x="1918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  <p:txBody>
            <a:bodyPr/>
            <a:p/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649456" y="7973568"/>
            <a:ext cx="1609344" cy="438912"/>
            <a:chOff x="0" y="0"/>
            <a:chExt cx="2145792" cy="58521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45792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2145792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685015" y="6058919"/>
            <a:ext cx="1451867" cy="1671323"/>
            <a:chOff x="0" y="0"/>
            <a:chExt cx="1935823" cy="22284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901952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p/>
          </p:txBody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35734" cy="2228342"/>
            </a:xfrm>
            <a:custGeom>
              <a:avLst/>
              <a:gdLst/>
              <a:ahLst/>
              <a:cxnLst/>
              <a:rect r="r" b="b" t="t" l="l"/>
              <a:pathLst>
                <a:path h="2228342" w="1935734">
                  <a:moveTo>
                    <a:pt x="16891" y="0"/>
                  </a:moveTo>
                  <a:lnTo>
                    <a:pt x="1918843" y="0"/>
                  </a:lnTo>
                  <a:cubicBezTo>
                    <a:pt x="1928241" y="0"/>
                    <a:pt x="1935734" y="7620"/>
                    <a:pt x="1935734" y="16891"/>
                  </a:cubicBezTo>
                  <a:lnTo>
                    <a:pt x="1935734" y="2211451"/>
                  </a:lnTo>
                  <a:cubicBezTo>
                    <a:pt x="1935734" y="2220849"/>
                    <a:pt x="1928114" y="2228342"/>
                    <a:pt x="1918843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918843" y="2194560"/>
                  </a:lnTo>
                  <a:lnTo>
                    <a:pt x="1918843" y="2211451"/>
                  </a:lnTo>
                  <a:lnTo>
                    <a:pt x="1901952" y="2211451"/>
                  </a:lnTo>
                  <a:lnTo>
                    <a:pt x="1901952" y="16891"/>
                  </a:lnTo>
                  <a:lnTo>
                    <a:pt x="1918843" y="16891"/>
                  </a:lnTo>
                  <a:lnTo>
                    <a:pt x="1918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p/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606272" y="7973568"/>
            <a:ext cx="1609344" cy="438912"/>
            <a:chOff x="0" y="0"/>
            <a:chExt cx="2145792" cy="58521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145792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2145792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641831" y="6698999"/>
            <a:ext cx="1451867" cy="1031243"/>
            <a:chOff x="0" y="0"/>
            <a:chExt cx="1935823" cy="137499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90195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p/>
          </p:txBody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35734" cy="1374902"/>
            </a:xfrm>
            <a:custGeom>
              <a:avLst/>
              <a:gdLst/>
              <a:ahLst/>
              <a:cxnLst/>
              <a:rect r="r" b="b" t="t" l="l"/>
              <a:pathLst>
                <a:path h="1374902" w="1935734">
                  <a:moveTo>
                    <a:pt x="16891" y="0"/>
                  </a:moveTo>
                  <a:lnTo>
                    <a:pt x="1918843" y="0"/>
                  </a:lnTo>
                  <a:cubicBezTo>
                    <a:pt x="1928241" y="0"/>
                    <a:pt x="1935734" y="7620"/>
                    <a:pt x="1935734" y="16891"/>
                  </a:cubicBezTo>
                  <a:lnTo>
                    <a:pt x="1935734" y="1358011"/>
                  </a:lnTo>
                  <a:cubicBezTo>
                    <a:pt x="1935734" y="1367409"/>
                    <a:pt x="1928114" y="1374902"/>
                    <a:pt x="191884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918843" y="1341120"/>
                  </a:lnTo>
                  <a:lnTo>
                    <a:pt x="1918843" y="1358011"/>
                  </a:lnTo>
                  <a:lnTo>
                    <a:pt x="1901952" y="1358011"/>
                  </a:lnTo>
                  <a:lnTo>
                    <a:pt x="1901952" y="16891"/>
                  </a:lnTo>
                  <a:lnTo>
                    <a:pt x="1918843" y="16891"/>
                  </a:lnTo>
                  <a:lnTo>
                    <a:pt x="1918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p/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5563088" y="7973568"/>
            <a:ext cx="1609344" cy="438912"/>
            <a:chOff x="0" y="0"/>
            <a:chExt cx="2145792" cy="58521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145792" cy="585216"/>
            </a:xfrm>
            <a:custGeom>
              <a:avLst/>
              <a:gdLst/>
              <a:ahLst/>
              <a:cxnLst/>
              <a:rect r="r" b="b" t="t" l="l"/>
              <a:pathLst>
                <a:path h="585216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2145792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5489237" y="144247"/>
            <a:ext cx="2433003" cy="1028252"/>
            <a:chOff x="0" y="0"/>
            <a:chExt cx="3244004" cy="1371003"/>
          </a:xfrm>
        </p:grpSpPr>
        <p:grpSp>
          <p:nvGrpSpPr>
            <p:cNvPr name="Group 141" id="141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143" id="143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145" id="145"/>
          <p:cNvSpPr/>
          <p:nvPr/>
        </p:nvSpPr>
        <p:spPr>
          <a:xfrm flipH="false" flipV="false" rot="0">
            <a:off x="353063" y="84463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pic>
        <p:nvPicPr>
          <p:cNvPr id="146" name="Picture 145" descr="dataset_distrib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5510279"/>
            <a:ext cx="7680960" cy="317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426722" y="146304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Architecture &amp; Workflow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2064" y="1393193"/>
            <a:ext cx="17190720" cy="475488"/>
            <a:chOff x="0" y="0"/>
            <a:chExt cx="229209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System design and component overview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3063" y="1925831"/>
            <a:ext cx="17581883" cy="5511803"/>
            <a:chOff x="0" y="0"/>
            <a:chExt cx="23442511" cy="7349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408639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42422" cy="7348982"/>
            </a:xfrm>
            <a:custGeom>
              <a:avLst/>
              <a:gdLst/>
              <a:ahLst/>
              <a:cxnLst/>
              <a:rect r="r" b="b" t="t" l="l"/>
              <a:pathLst>
                <a:path h="7348982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7332091"/>
                  </a:lnTo>
                  <a:cubicBezTo>
                    <a:pt x="23442422" y="7341489"/>
                    <a:pt x="23434802" y="7348982"/>
                    <a:pt x="23425530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23425530" y="7315200"/>
                  </a:lnTo>
                  <a:lnTo>
                    <a:pt x="23425530" y="7332091"/>
                  </a:lnTo>
                  <a:lnTo>
                    <a:pt x="23408639" y="733209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" y="2121408"/>
            <a:ext cx="9144000" cy="512064"/>
            <a:chOff x="0" y="0"/>
            <a:chExt cx="121920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DIAGRAM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5894" y="2760726"/>
            <a:ext cx="16863060" cy="4390644"/>
            <a:chOff x="0" y="0"/>
            <a:chExt cx="22484080" cy="58541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22433280" cy="5803392"/>
            </a:xfrm>
            <a:custGeom>
              <a:avLst/>
              <a:gdLst/>
              <a:ahLst/>
              <a:cxnLst/>
              <a:rect r="r" b="b" t="t" l="l"/>
              <a:pathLst>
                <a:path h="58033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803392"/>
                  </a:lnTo>
                  <a:lnTo>
                    <a:pt x="0" y="580339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-765048" y="0"/>
              <a:ext cx="23249128" cy="5904992"/>
            </a:xfrm>
            <a:custGeom>
              <a:avLst/>
              <a:gdLst/>
              <a:ahLst/>
              <a:cxnLst/>
              <a:rect r="r" b="b" t="t" l="l"/>
              <a:pathLst>
                <a:path h="5904992" w="23249128">
                  <a:moveTo>
                    <a:pt x="1146048" y="0"/>
                  </a:moveTo>
                  <a:lnTo>
                    <a:pt x="1298448" y="0"/>
                  </a:lnTo>
                  <a:lnTo>
                    <a:pt x="1298448" y="50800"/>
                  </a:lnTo>
                  <a:lnTo>
                    <a:pt x="1146048" y="50800"/>
                  </a:lnTo>
                  <a:close/>
                  <a:moveTo>
                    <a:pt x="1501648" y="0"/>
                  </a:moveTo>
                  <a:lnTo>
                    <a:pt x="1654048" y="0"/>
                  </a:lnTo>
                  <a:lnTo>
                    <a:pt x="1654048" y="50800"/>
                  </a:lnTo>
                  <a:lnTo>
                    <a:pt x="1501648" y="50800"/>
                  </a:lnTo>
                  <a:close/>
                  <a:moveTo>
                    <a:pt x="1857248" y="0"/>
                  </a:moveTo>
                  <a:lnTo>
                    <a:pt x="2009648" y="0"/>
                  </a:lnTo>
                  <a:lnTo>
                    <a:pt x="2009648" y="50800"/>
                  </a:lnTo>
                  <a:lnTo>
                    <a:pt x="1857248" y="50800"/>
                  </a:lnTo>
                  <a:close/>
                  <a:moveTo>
                    <a:pt x="2212848" y="50800"/>
                  </a:moveTo>
                  <a:lnTo>
                    <a:pt x="2365248" y="50800"/>
                  </a:lnTo>
                  <a:lnTo>
                    <a:pt x="2212848" y="50800"/>
                  </a:lnTo>
                  <a:close/>
                  <a:moveTo>
                    <a:pt x="2568448" y="50800"/>
                  </a:moveTo>
                  <a:lnTo>
                    <a:pt x="2720848" y="50800"/>
                  </a:lnTo>
                  <a:lnTo>
                    <a:pt x="2568448" y="50800"/>
                  </a:lnTo>
                  <a:close/>
                  <a:moveTo>
                    <a:pt x="2924048" y="50800"/>
                  </a:moveTo>
                  <a:lnTo>
                    <a:pt x="3076448" y="50800"/>
                  </a:lnTo>
                  <a:lnTo>
                    <a:pt x="2924048" y="50800"/>
                  </a:lnTo>
                  <a:close/>
                  <a:moveTo>
                    <a:pt x="3279648" y="50800"/>
                  </a:moveTo>
                  <a:lnTo>
                    <a:pt x="3432048" y="50800"/>
                  </a:lnTo>
                  <a:lnTo>
                    <a:pt x="3279648" y="50800"/>
                  </a:lnTo>
                  <a:close/>
                  <a:moveTo>
                    <a:pt x="3635248" y="50800"/>
                  </a:moveTo>
                  <a:lnTo>
                    <a:pt x="3787648" y="50800"/>
                  </a:lnTo>
                  <a:lnTo>
                    <a:pt x="3635248" y="50800"/>
                  </a:lnTo>
                  <a:close/>
                  <a:moveTo>
                    <a:pt x="3990848" y="50800"/>
                  </a:moveTo>
                  <a:lnTo>
                    <a:pt x="4143248" y="50800"/>
                  </a:lnTo>
                  <a:lnTo>
                    <a:pt x="3990848" y="50800"/>
                  </a:lnTo>
                  <a:close/>
                  <a:moveTo>
                    <a:pt x="4346448" y="50800"/>
                  </a:moveTo>
                  <a:lnTo>
                    <a:pt x="4498848" y="50800"/>
                  </a:lnTo>
                  <a:lnTo>
                    <a:pt x="4346448" y="50800"/>
                  </a:lnTo>
                  <a:close/>
                  <a:moveTo>
                    <a:pt x="4702048" y="50800"/>
                  </a:moveTo>
                  <a:lnTo>
                    <a:pt x="4854448" y="50800"/>
                  </a:lnTo>
                  <a:lnTo>
                    <a:pt x="4702048" y="50800"/>
                  </a:lnTo>
                  <a:close/>
                  <a:moveTo>
                    <a:pt x="5057648" y="50800"/>
                  </a:moveTo>
                  <a:lnTo>
                    <a:pt x="5210048" y="50800"/>
                  </a:lnTo>
                  <a:lnTo>
                    <a:pt x="5057648" y="50800"/>
                  </a:lnTo>
                  <a:close/>
                  <a:moveTo>
                    <a:pt x="5413248" y="50800"/>
                  </a:moveTo>
                  <a:lnTo>
                    <a:pt x="5565648" y="50800"/>
                  </a:lnTo>
                  <a:lnTo>
                    <a:pt x="5413248" y="50800"/>
                  </a:lnTo>
                  <a:close/>
                  <a:moveTo>
                    <a:pt x="5768848" y="50800"/>
                  </a:moveTo>
                  <a:lnTo>
                    <a:pt x="5921248" y="50800"/>
                  </a:lnTo>
                  <a:lnTo>
                    <a:pt x="5768848" y="50800"/>
                  </a:lnTo>
                  <a:close/>
                  <a:moveTo>
                    <a:pt x="6124448" y="50800"/>
                  </a:moveTo>
                  <a:lnTo>
                    <a:pt x="6276848" y="50800"/>
                  </a:lnTo>
                  <a:lnTo>
                    <a:pt x="6124448" y="50800"/>
                  </a:lnTo>
                  <a:close/>
                  <a:moveTo>
                    <a:pt x="6480048" y="50800"/>
                  </a:moveTo>
                  <a:lnTo>
                    <a:pt x="6632448" y="50800"/>
                  </a:lnTo>
                  <a:lnTo>
                    <a:pt x="6480048" y="50800"/>
                  </a:lnTo>
                  <a:close/>
                  <a:moveTo>
                    <a:pt x="6835648" y="50800"/>
                  </a:moveTo>
                  <a:lnTo>
                    <a:pt x="6988048" y="50800"/>
                  </a:lnTo>
                  <a:lnTo>
                    <a:pt x="6835648" y="50800"/>
                  </a:lnTo>
                  <a:close/>
                  <a:moveTo>
                    <a:pt x="7191248" y="50800"/>
                  </a:moveTo>
                  <a:lnTo>
                    <a:pt x="7343648" y="50800"/>
                  </a:lnTo>
                  <a:lnTo>
                    <a:pt x="7191248" y="50800"/>
                  </a:lnTo>
                  <a:close/>
                  <a:moveTo>
                    <a:pt x="7546848" y="50800"/>
                  </a:moveTo>
                  <a:lnTo>
                    <a:pt x="7699248" y="50800"/>
                  </a:lnTo>
                  <a:lnTo>
                    <a:pt x="7546848" y="50800"/>
                  </a:lnTo>
                  <a:close/>
                  <a:moveTo>
                    <a:pt x="7902448" y="50800"/>
                  </a:moveTo>
                  <a:lnTo>
                    <a:pt x="8054848" y="50800"/>
                  </a:lnTo>
                  <a:lnTo>
                    <a:pt x="7902448" y="50800"/>
                  </a:lnTo>
                  <a:close/>
                  <a:moveTo>
                    <a:pt x="8258048" y="50800"/>
                  </a:moveTo>
                  <a:lnTo>
                    <a:pt x="8410448" y="50800"/>
                  </a:lnTo>
                  <a:lnTo>
                    <a:pt x="8258048" y="50800"/>
                  </a:lnTo>
                  <a:close/>
                  <a:moveTo>
                    <a:pt x="8613648" y="50800"/>
                  </a:moveTo>
                  <a:lnTo>
                    <a:pt x="8766048" y="50800"/>
                  </a:lnTo>
                  <a:lnTo>
                    <a:pt x="8613648" y="50800"/>
                  </a:lnTo>
                  <a:close/>
                  <a:moveTo>
                    <a:pt x="8969248" y="50800"/>
                  </a:moveTo>
                  <a:lnTo>
                    <a:pt x="9121648" y="50800"/>
                  </a:lnTo>
                  <a:lnTo>
                    <a:pt x="8969248" y="50800"/>
                  </a:lnTo>
                  <a:close/>
                  <a:moveTo>
                    <a:pt x="9324848" y="50800"/>
                  </a:moveTo>
                  <a:lnTo>
                    <a:pt x="9477248" y="50800"/>
                  </a:lnTo>
                  <a:lnTo>
                    <a:pt x="9324848" y="50800"/>
                  </a:lnTo>
                  <a:close/>
                  <a:moveTo>
                    <a:pt x="9680448" y="50800"/>
                  </a:moveTo>
                  <a:lnTo>
                    <a:pt x="9832848" y="50800"/>
                  </a:lnTo>
                  <a:lnTo>
                    <a:pt x="9680448" y="50800"/>
                  </a:lnTo>
                  <a:close/>
                  <a:moveTo>
                    <a:pt x="10036048" y="50800"/>
                  </a:moveTo>
                  <a:lnTo>
                    <a:pt x="10188448" y="50800"/>
                  </a:lnTo>
                  <a:lnTo>
                    <a:pt x="10036048" y="50800"/>
                  </a:lnTo>
                  <a:close/>
                  <a:moveTo>
                    <a:pt x="10391648" y="50800"/>
                  </a:moveTo>
                  <a:lnTo>
                    <a:pt x="10544048" y="50800"/>
                  </a:lnTo>
                  <a:lnTo>
                    <a:pt x="10391648" y="50800"/>
                  </a:lnTo>
                  <a:close/>
                  <a:moveTo>
                    <a:pt x="10747248" y="50800"/>
                  </a:moveTo>
                  <a:lnTo>
                    <a:pt x="10899648" y="50800"/>
                  </a:lnTo>
                  <a:lnTo>
                    <a:pt x="10747248" y="50800"/>
                  </a:lnTo>
                  <a:close/>
                  <a:moveTo>
                    <a:pt x="11102848" y="50800"/>
                  </a:moveTo>
                  <a:lnTo>
                    <a:pt x="11255248" y="50800"/>
                  </a:lnTo>
                  <a:lnTo>
                    <a:pt x="11102848" y="50800"/>
                  </a:lnTo>
                  <a:close/>
                  <a:moveTo>
                    <a:pt x="11458448" y="50800"/>
                  </a:moveTo>
                  <a:lnTo>
                    <a:pt x="11610848" y="50800"/>
                  </a:lnTo>
                  <a:lnTo>
                    <a:pt x="11458448" y="50800"/>
                  </a:lnTo>
                  <a:close/>
                  <a:moveTo>
                    <a:pt x="11814048" y="50800"/>
                  </a:moveTo>
                  <a:lnTo>
                    <a:pt x="11966448" y="50800"/>
                  </a:lnTo>
                  <a:lnTo>
                    <a:pt x="11814048" y="50800"/>
                  </a:lnTo>
                  <a:close/>
                  <a:moveTo>
                    <a:pt x="12169648" y="50800"/>
                  </a:moveTo>
                  <a:lnTo>
                    <a:pt x="12322048" y="50800"/>
                  </a:lnTo>
                  <a:lnTo>
                    <a:pt x="12169648" y="50800"/>
                  </a:lnTo>
                  <a:close/>
                  <a:moveTo>
                    <a:pt x="12525248" y="50800"/>
                  </a:moveTo>
                  <a:lnTo>
                    <a:pt x="12677648" y="50800"/>
                  </a:lnTo>
                  <a:lnTo>
                    <a:pt x="12525248" y="50800"/>
                  </a:lnTo>
                  <a:close/>
                  <a:moveTo>
                    <a:pt x="12880848" y="50800"/>
                  </a:moveTo>
                  <a:lnTo>
                    <a:pt x="13033248" y="50800"/>
                  </a:lnTo>
                  <a:lnTo>
                    <a:pt x="12880848" y="50800"/>
                  </a:lnTo>
                  <a:close/>
                  <a:moveTo>
                    <a:pt x="13236448" y="50800"/>
                  </a:moveTo>
                  <a:lnTo>
                    <a:pt x="13388848" y="50800"/>
                  </a:lnTo>
                  <a:lnTo>
                    <a:pt x="13236448" y="50800"/>
                  </a:lnTo>
                  <a:close/>
                  <a:moveTo>
                    <a:pt x="13592048" y="50800"/>
                  </a:moveTo>
                  <a:lnTo>
                    <a:pt x="13744448" y="50800"/>
                  </a:lnTo>
                  <a:lnTo>
                    <a:pt x="13592048" y="50800"/>
                  </a:lnTo>
                  <a:close/>
                  <a:moveTo>
                    <a:pt x="13947648" y="50800"/>
                  </a:moveTo>
                  <a:lnTo>
                    <a:pt x="14100048" y="50800"/>
                  </a:lnTo>
                  <a:lnTo>
                    <a:pt x="13947648" y="50800"/>
                  </a:lnTo>
                  <a:close/>
                  <a:moveTo>
                    <a:pt x="14303248" y="50800"/>
                  </a:moveTo>
                  <a:lnTo>
                    <a:pt x="14455648" y="50800"/>
                  </a:lnTo>
                  <a:lnTo>
                    <a:pt x="14303248" y="50800"/>
                  </a:lnTo>
                  <a:close/>
                  <a:moveTo>
                    <a:pt x="14658848" y="50800"/>
                  </a:moveTo>
                  <a:lnTo>
                    <a:pt x="14811248" y="50800"/>
                  </a:lnTo>
                  <a:lnTo>
                    <a:pt x="14658848" y="50800"/>
                  </a:lnTo>
                  <a:close/>
                  <a:moveTo>
                    <a:pt x="15014448" y="50800"/>
                  </a:moveTo>
                  <a:lnTo>
                    <a:pt x="15166848" y="50800"/>
                  </a:lnTo>
                  <a:lnTo>
                    <a:pt x="15014448" y="50800"/>
                  </a:lnTo>
                  <a:close/>
                  <a:moveTo>
                    <a:pt x="15370048" y="50800"/>
                  </a:moveTo>
                  <a:lnTo>
                    <a:pt x="15522448" y="50800"/>
                  </a:lnTo>
                  <a:lnTo>
                    <a:pt x="15370048" y="50800"/>
                  </a:lnTo>
                  <a:close/>
                  <a:moveTo>
                    <a:pt x="15725648" y="50800"/>
                  </a:moveTo>
                  <a:lnTo>
                    <a:pt x="15878048" y="50800"/>
                  </a:lnTo>
                  <a:lnTo>
                    <a:pt x="15725648" y="50800"/>
                  </a:lnTo>
                  <a:close/>
                  <a:moveTo>
                    <a:pt x="16081248" y="50800"/>
                  </a:moveTo>
                  <a:lnTo>
                    <a:pt x="16233648" y="50800"/>
                  </a:lnTo>
                  <a:lnTo>
                    <a:pt x="16081248" y="50800"/>
                  </a:lnTo>
                  <a:close/>
                  <a:moveTo>
                    <a:pt x="16436848" y="50800"/>
                  </a:moveTo>
                  <a:lnTo>
                    <a:pt x="16589248" y="50800"/>
                  </a:lnTo>
                  <a:lnTo>
                    <a:pt x="16436848" y="50800"/>
                  </a:lnTo>
                  <a:close/>
                  <a:moveTo>
                    <a:pt x="16792448" y="50800"/>
                  </a:moveTo>
                  <a:lnTo>
                    <a:pt x="16944848" y="50800"/>
                  </a:lnTo>
                  <a:lnTo>
                    <a:pt x="16792448" y="50800"/>
                  </a:lnTo>
                  <a:close/>
                  <a:moveTo>
                    <a:pt x="17148048" y="50800"/>
                  </a:moveTo>
                  <a:lnTo>
                    <a:pt x="17300448" y="50800"/>
                  </a:lnTo>
                  <a:lnTo>
                    <a:pt x="17148048" y="50800"/>
                  </a:lnTo>
                  <a:close/>
                  <a:moveTo>
                    <a:pt x="17503648" y="50800"/>
                  </a:moveTo>
                  <a:lnTo>
                    <a:pt x="17656048" y="50800"/>
                  </a:lnTo>
                  <a:lnTo>
                    <a:pt x="17503648" y="50800"/>
                  </a:lnTo>
                  <a:close/>
                  <a:moveTo>
                    <a:pt x="17859248" y="50800"/>
                  </a:moveTo>
                  <a:lnTo>
                    <a:pt x="18011648" y="50800"/>
                  </a:lnTo>
                  <a:lnTo>
                    <a:pt x="17859248" y="50800"/>
                  </a:lnTo>
                  <a:close/>
                  <a:moveTo>
                    <a:pt x="18214848" y="50800"/>
                  </a:moveTo>
                  <a:lnTo>
                    <a:pt x="18367248" y="50800"/>
                  </a:lnTo>
                  <a:lnTo>
                    <a:pt x="18214848" y="50800"/>
                  </a:lnTo>
                  <a:close/>
                  <a:moveTo>
                    <a:pt x="18570448" y="50800"/>
                  </a:moveTo>
                  <a:lnTo>
                    <a:pt x="18722848" y="50800"/>
                  </a:lnTo>
                  <a:lnTo>
                    <a:pt x="18570448" y="50800"/>
                  </a:lnTo>
                  <a:close/>
                  <a:moveTo>
                    <a:pt x="18926048" y="50800"/>
                  </a:moveTo>
                  <a:lnTo>
                    <a:pt x="19078448" y="50800"/>
                  </a:lnTo>
                  <a:lnTo>
                    <a:pt x="18926048" y="50800"/>
                  </a:lnTo>
                  <a:close/>
                  <a:moveTo>
                    <a:pt x="19281648" y="50800"/>
                  </a:moveTo>
                  <a:lnTo>
                    <a:pt x="19434048" y="50800"/>
                  </a:lnTo>
                  <a:lnTo>
                    <a:pt x="19281648" y="50800"/>
                  </a:lnTo>
                  <a:close/>
                  <a:moveTo>
                    <a:pt x="19637248" y="50800"/>
                  </a:moveTo>
                  <a:lnTo>
                    <a:pt x="19789648" y="50800"/>
                  </a:lnTo>
                  <a:lnTo>
                    <a:pt x="19637248" y="50800"/>
                  </a:lnTo>
                  <a:close/>
                  <a:moveTo>
                    <a:pt x="19992848" y="50800"/>
                  </a:moveTo>
                  <a:lnTo>
                    <a:pt x="20145248" y="50800"/>
                  </a:lnTo>
                  <a:lnTo>
                    <a:pt x="19992848" y="50800"/>
                  </a:lnTo>
                  <a:close/>
                  <a:moveTo>
                    <a:pt x="20348448" y="50800"/>
                  </a:moveTo>
                  <a:lnTo>
                    <a:pt x="20500848" y="50800"/>
                  </a:lnTo>
                  <a:lnTo>
                    <a:pt x="20348448" y="50800"/>
                  </a:lnTo>
                  <a:close/>
                  <a:moveTo>
                    <a:pt x="20704048" y="50800"/>
                  </a:moveTo>
                  <a:lnTo>
                    <a:pt x="20856448" y="50800"/>
                  </a:lnTo>
                  <a:lnTo>
                    <a:pt x="20704048" y="50800"/>
                  </a:lnTo>
                  <a:close/>
                  <a:moveTo>
                    <a:pt x="21059648" y="50800"/>
                  </a:moveTo>
                  <a:lnTo>
                    <a:pt x="21212048" y="50800"/>
                  </a:lnTo>
                  <a:lnTo>
                    <a:pt x="21059648" y="50800"/>
                  </a:lnTo>
                  <a:close/>
                  <a:moveTo>
                    <a:pt x="21415248" y="50800"/>
                  </a:moveTo>
                  <a:lnTo>
                    <a:pt x="21567648" y="50800"/>
                  </a:lnTo>
                  <a:lnTo>
                    <a:pt x="21415248" y="50800"/>
                  </a:lnTo>
                  <a:close/>
                  <a:moveTo>
                    <a:pt x="21770848" y="50800"/>
                  </a:moveTo>
                  <a:lnTo>
                    <a:pt x="21923248" y="50800"/>
                  </a:lnTo>
                  <a:lnTo>
                    <a:pt x="21770848" y="50800"/>
                  </a:lnTo>
                  <a:close/>
                  <a:moveTo>
                    <a:pt x="22126448" y="50800"/>
                  </a:moveTo>
                  <a:lnTo>
                    <a:pt x="22278848" y="50800"/>
                  </a:lnTo>
                  <a:lnTo>
                    <a:pt x="22126448" y="50800"/>
                  </a:lnTo>
                  <a:close/>
                  <a:moveTo>
                    <a:pt x="22482048" y="50800"/>
                  </a:moveTo>
                  <a:lnTo>
                    <a:pt x="22634448" y="50800"/>
                  </a:lnTo>
                  <a:lnTo>
                    <a:pt x="22482048" y="50800"/>
                  </a:lnTo>
                  <a:close/>
                  <a:moveTo>
                    <a:pt x="22837648" y="50800"/>
                  </a:moveTo>
                  <a:lnTo>
                    <a:pt x="22990048" y="50800"/>
                  </a:lnTo>
                  <a:lnTo>
                    <a:pt x="22837648" y="50800"/>
                  </a:lnTo>
                  <a:close/>
                  <a:moveTo>
                    <a:pt x="23193248" y="50800"/>
                  </a:moveTo>
                  <a:lnTo>
                    <a:pt x="23223728" y="50800"/>
                  </a:lnTo>
                  <a:cubicBezTo>
                    <a:pt x="23237698" y="50800"/>
                    <a:pt x="23249128" y="62230"/>
                    <a:pt x="23249128" y="76200"/>
                  </a:cubicBezTo>
                  <a:lnTo>
                    <a:pt x="23249128" y="198120"/>
                  </a:lnTo>
                  <a:lnTo>
                    <a:pt x="23198328" y="198120"/>
                  </a:lnTo>
                  <a:lnTo>
                    <a:pt x="23198328" y="25400"/>
                  </a:lnTo>
                  <a:lnTo>
                    <a:pt x="23223728" y="25400"/>
                  </a:lnTo>
                  <a:lnTo>
                    <a:pt x="23223728" y="50800"/>
                  </a:lnTo>
                  <a:lnTo>
                    <a:pt x="23193248" y="50800"/>
                  </a:lnTo>
                  <a:close/>
                  <a:moveTo>
                    <a:pt x="23249128" y="401320"/>
                  </a:moveTo>
                  <a:lnTo>
                    <a:pt x="23249128" y="553720"/>
                  </a:lnTo>
                  <a:lnTo>
                    <a:pt x="23198328" y="553720"/>
                  </a:lnTo>
                  <a:lnTo>
                    <a:pt x="23198328" y="401320"/>
                  </a:lnTo>
                  <a:close/>
                  <a:moveTo>
                    <a:pt x="23198328" y="756920"/>
                  </a:moveTo>
                  <a:lnTo>
                    <a:pt x="23198328" y="909320"/>
                  </a:lnTo>
                  <a:lnTo>
                    <a:pt x="23147528" y="909320"/>
                  </a:lnTo>
                  <a:lnTo>
                    <a:pt x="23147528" y="756920"/>
                  </a:lnTo>
                  <a:close/>
                  <a:moveTo>
                    <a:pt x="23147528" y="1112520"/>
                  </a:moveTo>
                  <a:lnTo>
                    <a:pt x="23147528" y="1264920"/>
                  </a:lnTo>
                  <a:lnTo>
                    <a:pt x="23096728" y="1264920"/>
                  </a:lnTo>
                  <a:lnTo>
                    <a:pt x="23096728" y="1112520"/>
                  </a:lnTo>
                  <a:close/>
                  <a:moveTo>
                    <a:pt x="23096728" y="1468120"/>
                  </a:moveTo>
                  <a:lnTo>
                    <a:pt x="23096728" y="1620520"/>
                  </a:lnTo>
                  <a:lnTo>
                    <a:pt x="23045928" y="1620520"/>
                  </a:lnTo>
                  <a:lnTo>
                    <a:pt x="23045928" y="1468120"/>
                  </a:lnTo>
                  <a:close/>
                  <a:moveTo>
                    <a:pt x="23045928" y="1823720"/>
                  </a:moveTo>
                  <a:lnTo>
                    <a:pt x="23045928" y="1976120"/>
                  </a:lnTo>
                  <a:lnTo>
                    <a:pt x="22995128" y="1976120"/>
                  </a:lnTo>
                  <a:lnTo>
                    <a:pt x="22995128" y="1823720"/>
                  </a:lnTo>
                  <a:close/>
                  <a:moveTo>
                    <a:pt x="22995128" y="2179320"/>
                  </a:moveTo>
                  <a:lnTo>
                    <a:pt x="22995128" y="2331720"/>
                  </a:lnTo>
                  <a:lnTo>
                    <a:pt x="22944328" y="2331720"/>
                  </a:lnTo>
                  <a:lnTo>
                    <a:pt x="22944328" y="2179320"/>
                  </a:lnTo>
                  <a:close/>
                  <a:moveTo>
                    <a:pt x="22944328" y="2534920"/>
                  </a:moveTo>
                  <a:lnTo>
                    <a:pt x="22944328" y="2687320"/>
                  </a:lnTo>
                  <a:lnTo>
                    <a:pt x="22893528" y="2687320"/>
                  </a:lnTo>
                  <a:lnTo>
                    <a:pt x="22893528" y="2534920"/>
                  </a:lnTo>
                  <a:close/>
                  <a:moveTo>
                    <a:pt x="22893528" y="2890520"/>
                  </a:moveTo>
                  <a:lnTo>
                    <a:pt x="22893528" y="3042920"/>
                  </a:lnTo>
                  <a:lnTo>
                    <a:pt x="22842728" y="3042920"/>
                  </a:lnTo>
                  <a:lnTo>
                    <a:pt x="22842728" y="2890520"/>
                  </a:lnTo>
                  <a:close/>
                  <a:moveTo>
                    <a:pt x="22842728" y="3246120"/>
                  </a:moveTo>
                  <a:lnTo>
                    <a:pt x="22842728" y="3398520"/>
                  </a:lnTo>
                  <a:lnTo>
                    <a:pt x="22791928" y="3398520"/>
                  </a:lnTo>
                  <a:lnTo>
                    <a:pt x="22791928" y="3246120"/>
                  </a:lnTo>
                  <a:close/>
                  <a:moveTo>
                    <a:pt x="22791928" y="3601720"/>
                  </a:moveTo>
                  <a:lnTo>
                    <a:pt x="22791928" y="3754120"/>
                  </a:lnTo>
                  <a:lnTo>
                    <a:pt x="22741128" y="3754120"/>
                  </a:lnTo>
                  <a:lnTo>
                    <a:pt x="22741128" y="3601720"/>
                  </a:lnTo>
                  <a:close/>
                  <a:moveTo>
                    <a:pt x="22741128" y="3957320"/>
                  </a:moveTo>
                  <a:lnTo>
                    <a:pt x="22741128" y="4109720"/>
                  </a:lnTo>
                  <a:lnTo>
                    <a:pt x="22690328" y="4109720"/>
                  </a:lnTo>
                  <a:lnTo>
                    <a:pt x="22690328" y="3957320"/>
                  </a:lnTo>
                  <a:close/>
                  <a:moveTo>
                    <a:pt x="22690328" y="4312920"/>
                  </a:moveTo>
                  <a:lnTo>
                    <a:pt x="22690328" y="4465320"/>
                  </a:lnTo>
                  <a:lnTo>
                    <a:pt x="22639528" y="4465320"/>
                  </a:lnTo>
                  <a:lnTo>
                    <a:pt x="22639528" y="4312920"/>
                  </a:lnTo>
                  <a:close/>
                  <a:moveTo>
                    <a:pt x="22639528" y="4668520"/>
                  </a:moveTo>
                  <a:lnTo>
                    <a:pt x="22639528" y="4820920"/>
                  </a:lnTo>
                  <a:lnTo>
                    <a:pt x="22588728" y="4820920"/>
                  </a:lnTo>
                  <a:lnTo>
                    <a:pt x="22588728" y="4668520"/>
                  </a:lnTo>
                  <a:close/>
                  <a:moveTo>
                    <a:pt x="22588728" y="5024120"/>
                  </a:moveTo>
                  <a:lnTo>
                    <a:pt x="22588728" y="5176520"/>
                  </a:lnTo>
                  <a:lnTo>
                    <a:pt x="22537928" y="5176520"/>
                  </a:lnTo>
                  <a:lnTo>
                    <a:pt x="22537928" y="5024120"/>
                  </a:lnTo>
                  <a:close/>
                  <a:moveTo>
                    <a:pt x="22537928" y="5379720"/>
                  </a:moveTo>
                  <a:lnTo>
                    <a:pt x="22537928" y="5532120"/>
                  </a:lnTo>
                  <a:lnTo>
                    <a:pt x="22487128" y="5532120"/>
                  </a:lnTo>
                  <a:lnTo>
                    <a:pt x="22487128" y="5379720"/>
                  </a:lnTo>
                  <a:close/>
                  <a:moveTo>
                    <a:pt x="22487128" y="5735320"/>
                  </a:moveTo>
                  <a:lnTo>
                    <a:pt x="22487128" y="5879592"/>
                  </a:lnTo>
                  <a:cubicBezTo>
                    <a:pt x="22487128" y="5893562"/>
                    <a:pt x="22475698" y="5904992"/>
                    <a:pt x="22461728" y="5904992"/>
                  </a:cubicBezTo>
                  <a:lnTo>
                    <a:pt x="22453600" y="5904992"/>
                  </a:lnTo>
                  <a:lnTo>
                    <a:pt x="22453600" y="5854192"/>
                  </a:lnTo>
                  <a:lnTo>
                    <a:pt x="22461728" y="5854192"/>
                  </a:lnTo>
                  <a:lnTo>
                    <a:pt x="22461728" y="5879592"/>
                  </a:lnTo>
                  <a:lnTo>
                    <a:pt x="22436328" y="5879592"/>
                  </a:lnTo>
                  <a:lnTo>
                    <a:pt x="22436328" y="5684520"/>
                  </a:lnTo>
                  <a:close/>
                  <a:moveTo>
                    <a:pt x="22199600" y="5854192"/>
                  </a:moveTo>
                  <a:lnTo>
                    <a:pt x="22047200" y="5854192"/>
                  </a:lnTo>
                  <a:lnTo>
                    <a:pt x="22047200" y="5803392"/>
                  </a:lnTo>
                  <a:lnTo>
                    <a:pt x="22199600" y="5803392"/>
                  </a:lnTo>
                  <a:close/>
                  <a:moveTo>
                    <a:pt x="21844000" y="5803392"/>
                  </a:moveTo>
                  <a:lnTo>
                    <a:pt x="21691600" y="5803392"/>
                  </a:lnTo>
                  <a:lnTo>
                    <a:pt x="21691600" y="5752592"/>
                  </a:lnTo>
                  <a:lnTo>
                    <a:pt x="21844000" y="5752592"/>
                  </a:lnTo>
                  <a:close/>
                  <a:moveTo>
                    <a:pt x="21488400" y="5752592"/>
                  </a:moveTo>
                  <a:lnTo>
                    <a:pt x="21336000" y="5752592"/>
                  </a:lnTo>
                  <a:lnTo>
                    <a:pt x="21336000" y="5701792"/>
                  </a:lnTo>
                  <a:lnTo>
                    <a:pt x="21488400" y="5701792"/>
                  </a:lnTo>
                  <a:close/>
                  <a:moveTo>
                    <a:pt x="21132800" y="5701792"/>
                  </a:moveTo>
                  <a:lnTo>
                    <a:pt x="20980400" y="5701792"/>
                  </a:lnTo>
                  <a:lnTo>
                    <a:pt x="20980400" y="5650992"/>
                  </a:lnTo>
                  <a:lnTo>
                    <a:pt x="21132800" y="5650992"/>
                  </a:lnTo>
                  <a:close/>
                  <a:moveTo>
                    <a:pt x="20777200" y="5650992"/>
                  </a:moveTo>
                  <a:lnTo>
                    <a:pt x="20624800" y="5650992"/>
                  </a:lnTo>
                  <a:lnTo>
                    <a:pt x="20624800" y="5600192"/>
                  </a:lnTo>
                  <a:lnTo>
                    <a:pt x="20777200" y="5600192"/>
                  </a:lnTo>
                  <a:close/>
                  <a:moveTo>
                    <a:pt x="20421600" y="5600192"/>
                  </a:moveTo>
                  <a:lnTo>
                    <a:pt x="20269200" y="5600192"/>
                  </a:lnTo>
                  <a:lnTo>
                    <a:pt x="20269200" y="5549392"/>
                  </a:lnTo>
                  <a:lnTo>
                    <a:pt x="20421600" y="5549392"/>
                  </a:lnTo>
                  <a:close/>
                  <a:moveTo>
                    <a:pt x="20066000" y="5549392"/>
                  </a:moveTo>
                  <a:lnTo>
                    <a:pt x="19913600" y="5549392"/>
                  </a:lnTo>
                  <a:lnTo>
                    <a:pt x="19913600" y="5498592"/>
                  </a:lnTo>
                  <a:lnTo>
                    <a:pt x="20066000" y="5498592"/>
                  </a:lnTo>
                  <a:close/>
                  <a:moveTo>
                    <a:pt x="19710400" y="5498592"/>
                  </a:moveTo>
                  <a:lnTo>
                    <a:pt x="19558000" y="5498592"/>
                  </a:lnTo>
                  <a:lnTo>
                    <a:pt x="19558000" y="5447792"/>
                  </a:lnTo>
                  <a:lnTo>
                    <a:pt x="19710400" y="5447792"/>
                  </a:lnTo>
                  <a:close/>
                  <a:moveTo>
                    <a:pt x="19354800" y="5447792"/>
                  </a:moveTo>
                  <a:lnTo>
                    <a:pt x="19202400" y="5447792"/>
                  </a:lnTo>
                  <a:lnTo>
                    <a:pt x="19202400" y="5396992"/>
                  </a:lnTo>
                  <a:lnTo>
                    <a:pt x="19354800" y="5396992"/>
                  </a:lnTo>
                  <a:close/>
                  <a:moveTo>
                    <a:pt x="18999200" y="5396992"/>
                  </a:moveTo>
                  <a:lnTo>
                    <a:pt x="18846800" y="5396992"/>
                  </a:lnTo>
                  <a:lnTo>
                    <a:pt x="18846800" y="5346192"/>
                  </a:lnTo>
                  <a:lnTo>
                    <a:pt x="18999200" y="5346192"/>
                  </a:lnTo>
                  <a:close/>
                  <a:moveTo>
                    <a:pt x="18643600" y="5346192"/>
                  </a:moveTo>
                  <a:lnTo>
                    <a:pt x="18491200" y="5346192"/>
                  </a:lnTo>
                  <a:lnTo>
                    <a:pt x="18491200" y="5295392"/>
                  </a:lnTo>
                  <a:lnTo>
                    <a:pt x="18643600" y="5295392"/>
                  </a:lnTo>
                  <a:close/>
                  <a:moveTo>
                    <a:pt x="18288000" y="5295392"/>
                  </a:moveTo>
                  <a:lnTo>
                    <a:pt x="18135600" y="5295392"/>
                  </a:lnTo>
                  <a:lnTo>
                    <a:pt x="18135600" y="5244592"/>
                  </a:lnTo>
                  <a:lnTo>
                    <a:pt x="18288000" y="5244592"/>
                  </a:lnTo>
                  <a:close/>
                  <a:moveTo>
                    <a:pt x="17932400" y="5244592"/>
                  </a:moveTo>
                  <a:lnTo>
                    <a:pt x="17780000" y="5244592"/>
                  </a:lnTo>
                  <a:lnTo>
                    <a:pt x="17780000" y="5193792"/>
                  </a:lnTo>
                  <a:lnTo>
                    <a:pt x="17932400" y="5193792"/>
                  </a:lnTo>
                  <a:close/>
                  <a:moveTo>
                    <a:pt x="17576800" y="5193792"/>
                  </a:moveTo>
                  <a:lnTo>
                    <a:pt x="17424400" y="5193792"/>
                  </a:lnTo>
                  <a:lnTo>
                    <a:pt x="17424400" y="5142992"/>
                  </a:lnTo>
                  <a:lnTo>
                    <a:pt x="17576800" y="5142992"/>
                  </a:lnTo>
                  <a:close/>
                  <a:moveTo>
                    <a:pt x="17221200" y="5142992"/>
                  </a:moveTo>
                  <a:lnTo>
                    <a:pt x="17068800" y="5142992"/>
                  </a:lnTo>
                  <a:lnTo>
                    <a:pt x="17068800" y="5092192"/>
                  </a:lnTo>
                  <a:lnTo>
                    <a:pt x="17221200" y="5092192"/>
                  </a:lnTo>
                  <a:close/>
                  <a:moveTo>
                    <a:pt x="16865600" y="5092192"/>
                  </a:moveTo>
                  <a:lnTo>
                    <a:pt x="16713200" y="5092192"/>
                  </a:lnTo>
                  <a:lnTo>
                    <a:pt x="16713200" y="5041392"/>
                  </a:lnTo>
                  <a:lnTo>
                    <a:pt x="16865600" y="5041392"/>
                  </a:lnTo>
                  <a:close/>
                  <a:moveTo>
                    <a:pt x="16510000" y="5041392"/>
                  </a:moveTo>
                  <a:lnTo>
                    <a:pt x="16357600" y="5041392"/>
                  </a:lnTo>
                  <a:lnTo>
                    <a:pt x="16357600" y="4990592"/>
                  </a:lnTo>
                  <a:lnTo>
                    <a:pt x="16510000" y="4990592"/>
                  </a:lnTo>
                  <a:close/>
                  <a:moveTo>
                    <a:pt x="16154400" y="4990592"/>
                  </a:moveTo>
                  <a:lnTo>
                    <a:pt x="16002000" y="4990592"/>
                  </a:lnTo>
                  <a:lnTo>
                    <a:pt x="16002000" y="4939792"/>
                  </a:lnTo>
                  <a:lnTo>
                    <a:pt x="16154400" y="4939792"/>
                  </a:lnTo>
                  <a:close/>
                  <a:moveTo>
                    <a:pt x="15798800" y="4939792"/>
                  </a:moveTo>
                  <a:lnTo>
                    <a:pt x="15646400" y="4939792"/>
                  </a:lnTo>
                  <a:lnTo>
                    <a:pt x="15646400" y="4888992"/>
                  </a:lnTo>
                  <a:lnTo>
                    <a:pt x="15798800" y="4888992"/>
                  </a:lnTo>
                  <a:close/>
                  <a:moveTo>
                    <a:pt x="15443200" y="4888992"/>
                  </a:moveTo>
                  <a:lnTo>
                    <a:pt x="15290800" y="4888992"/>
                  </a:lnTo>
                  <a:lnTo>
                    <a:pt x="15290800" y="4838192"/>
                  </a:lnTo>
                  <a:lnTo>
                    <a:pt x="15443200" y="4838192"/>
                  </a:lnTo>
                  <a:close/>
                  <a:moveTo>
                    <a:pt x="15087600" y="4838192"/>
                  </a:moveTo>
                  <a:lnTo>
                    <a:pt x="14935200" y="4838192"/>
                  </a:lnTo>
                  <a:lnTo>
                    <a:pt x="14935200" y="4787392"/>
                  </a:lnTo>
                  <a:lnTo>
                    <a:pt x="15087600" y="4787392"/>
                  </a:lnTo>
                  <a:close/>
                  <a:moveTo>
                    <a:pt x="14732000" y="4787392"/>
                  </a:moveTo>
                  <a:lnTo>
                    <a:pt x="14579600" y="4787392"/>
                  </a:lnTo>
                  <a:lnTo>
                    <a:pt x="14579600" y="4736592"/>
                  </a:lnTo>
                  <a:lnTo>
                    <a:pt x="14732000" y="4736592"/>
                  </a:lnTo>
                  <a:close/>
                  <a:moveTo>
                    <a:pt x="14376400" y="4736592"/>
                  </a:moveTo>
                  <a:lnTo>
                    <a:pt x="14224000" y="4736592"/>
                  </a:lnTo>
                  <a:lnTo>
                    <a:pt x="14224000" y="4685792"/>
                  </a:lnTo>
                  <a:lnTo>
                    <a:pt x="14376400" y="4685792"/>
                  </a:lnTo>
                  <a:close/>
                  <a:moveTo>
                    <a:pt x="14020800" y="4685792"/>
                  </a:moveTo>
                  <a:lnTo>
                    <a:pt x="13868400" y="4685792"/>
                  </a:lnTo>
                  <a:lnTo>
                    <a:pt x="13868400" y="4634992"/>
                  </a:lnTo>
                  <a:lnTo>
                    <a:pt x="14020800" y="4634992"/>
                  </a:lnTo>
                  <a:close/>
                  <a:moveTo>
                    <a:pt x="13665200" y="4634992"/>
                  </a:moveTo>
                  <a:lnTo>
                    <a:pt x="13512800" y="4634992"/>
                  </a:lnTo>
                  <a:lnTo>
                    <a:pt x="13512800" y="4584192"/>
                  </a:lnTo>
                  <a:lnTo>
                    <a:pt x="13665200" y="4584192"/>
                  </a:lnTo>
                  <a:close/>
                  <a:moveTo>
                    <a:pt x="13309600" y="4584192"/>
                  </a:moveTo>
                  <a:lnTo>
                    <a:pt x="13157200" y="4584192"/>
                  </a:lnTo>
                  <a:lnTo>
                    <a:pt x="13157200" y="4533392"/>
                  </a:lnTo>
                  <a:lnTo>
                    <a:pt x="13309600" y="4533392"/>
                  </a:lnTo>
                  <a:close/>
                  <a:moveTo>
                    <a:pt x="12954000" y="4533392"/>
                  </a:moveTo>
                  <a:lnTo>
                    <a:pt x="12801600" y="4533392"/>
                  </a:lnTo>
                  <a:lnTo>
                    <a:pt x="12801600" y="4482592"/>
                  </a:lnTo>
                  <a:lnTo>
                    <a:pt x="12954000" y="4482592"/>
                  </a:lnTo>
                  <a:close/>
                  <a:moveTo>
                    <a:pt x="12598400" y="4482592"/>
                  </a:moveTo>
                  <a:lnTo>
                    <a:pt x="12446000" y="4482592"/>
                  </a:lnTo>
                  <a:lnTo>
                    <a:pt x="12446000" y="4431792"/>
                  </a:lnTo>
                  <a:lnTo>
                    <a:pt x="12598400" y="4431792"/>
                  </a:lnTo>
                  <a:close/>
                  <a:moveTo>
                    <a:pt x="12242800" y="4431792"/>
                  </a:moveTo>
                  <a:lnTo>
                    <a:pt x="12090400" y="4431792"/>
                  </a:lnTo>
                  <a:lnTo>
                    <a:pt x="12090400" y="4380992"/>
                  </a:lnTo>
                  <a:lnTo>
                    <a:pt x="12242800" y="4380992"/>
                  </a:lnTo>
                  <a:close/>
                  <a:moveTo>
                    <a:pt x="11887200" y="4380992"/>
                  </a:moveTo>
                  <a:lnTo>
                    <a:pt x="11734800" y="4380992"/>
                  </a:lnTo>
                  <a:lnTo>
                    <a:pt x="11734800" y="4330192"/>
                  </a:lnTo>
                  <a:lnTo>
                    <a:pt x="11887200" y="4330192"/>
                  </a:lnTo>
                  <a:close/>
                  <a:moveTo>
                    <a:pt x="11531600" y="4330192"/>
                  </a:moveTo>
                  <a:lnTo>
                    <a:pt x="11379200" y="4330192"/>
                  </a:lnTo>
                  <a:lnTo>
                    <a:pt x="11379200" y="4279392"/>
                  </a:lnTo>
                  <a:lnTo>
                    <a:pt x="11531600" y="4279392"/>
                  </a:lnTo>
                  <a:close/>
                  <a:moveTo>
                    <a:pt x="11176000" y="4279392"/>
                  </a:moveTo>
                  <a:lnTo>
                    <a:pt x="11023600" y="4279392"/>
                  </a:lnTo>
                  <a:lnTo>
                    <a:pt x="11023600" y="4228592"/>
                  </a:lnTo>
                  <a:lnTo>
                    <a:pt x="11176000" y="4228592"/>
                  </a:lnTo>
                  <a:close/>
                  <a:moveTo>
                    <a:pt x="10820400" y="4228592"/>
                  </a:moveTo>
                  <a:lnTo>
                    <a:pt x="10668000" y="4228592"/>
                  </a:lnTo>
                  <a:lnTo>
                    <a:pt x="10668000" y="4177792"/>
                  </a:lnTo>
                  <a:lnTo>
                    <a:pt x="10820400" y="4177792"/>
                  </a:lnTo>
                  <a:close/>
                  <a:moveTo>
                    <a:pt x="10464800" y="4177792"/>
                  </a:moveTo>
                  <a:lnTo>
                    <a:pt x="10312400" y="4177792"/>
                  </a:lnTo>
                  <a:lnTo>
                    <a:pt x="10312400" y="4126992"/>
                  </a:lnTo>
                  <a:lnTo>
                    <a:pt x="10464800" y="4126992"/>
                  </a:lnTo>
                  <a:close/>
                  <a:moveTo>
                    <a:pt x="10109200" y="4126992"/>
                  </a:moveTo>
                  <a:lnTo>
                    <a:pt x="9956800" y="4126992"/>
                  </a:lnTo>
                  <a:lnTo>
                    <a:pt x="9956800" y="4076192"/>
                  </a:lnTo>
                  <a:lnTo>
                    <a:pt x="10109200" y="4076192"/>
                  </a:lnTo>
                  <a:close/>
                  <a:moveTo>
                    <a:pt x="9753600" y="4076192"/>
                  </a:moveTo>
                  <a:lnTo>
                    <a:pt x="9601200" y="4076192"/>
                  </a:lnTo>
                  <a:lnTo>
                    <a:pt x="9601200" y="4025392"/>
                  </a:lnTo>
                  <a:lnTo>
                    <a:pt x="9753600" y="4025392"/>
                  </a:lnTo>
                  <a:close/>
                  <a:moveTo>
                    <a:pt x="9398000" y="4025392"/>
                  </a:moveTo>
                  <a:lnTo>
                    <a:pt x="9245600" y="4025392"/>
                  </a:lnTo>
                  <a:lnTo>
                    <a:pt x="9245600" y="3974592"/>
                  </a:lnTo>
                  <a:lnTo>
                    <a:pt x="9398000" y="3974592"/>
                  </a:lnTo>
                  <a:close/>
                  <a:moveTo>
                    <a:pt x="9042400" y="3974592"/>
                  </a:moveTo>
                  <a:lnTo>
                    <a:pt x="8890000" y="3974592"/>
                  </a:lnTo>
                  <a:lnTo>
                    <a:pt x="8890000" y="3923792"/>
                  </a:lnTo>
                  <a:lnTo>
                    <a:pt x="9042400" y="3923792"/>
                  </a:lnTo>
                  <a:close/>
                  <a:moveTo>
                    <a:pt x="8686800" y="3923792"/>
                  </a:moveTo>
                  <a:lnTo>
                    <a:pt x="8534400" y="3923792"/>
                  </a:lnTo>
                  <a:lnTo>
                    <a:pt x="8534400" y="3872992"/>
                  </a:lnTo>
                  <a:lnTo>
                    <a:pt x="8686800" y="3872992"/>
                  </a:lnTo>
                  <a:close/>
                  <a:moveTo>
                    <a:pt x="8331200" y="3872992"/>
                  </a:moveTo>
                  <a:lnTo>
                    <a:pt x="8178800" y="3872992"/>
                  </a:lnTo>
                  <a:lnTo>
                    <a:pt x="8178800" y="3822192"/>
                  </a:lnTo>
                  <a:lnTo>
                    <a:pt x="8331200" y="3822192"/>
                  </a:lnTo>
                  <a:close/>
                  <a:moveTo>
                    <a:pt x="7975600" y="3822192"/>
                  </a:moveTo>
                  <a:lnTo>
                    <a:pt x="7823200" y="3822192"/>
                  </a:lnTo>
                  <a:lnTo>
                    <a:pt x="7823200" y="3771392"/>
                  </a:lnTo>
                  <a:lnTo>
                    <a:pt x="7975600" y="3771392"/>
                  </a:lnTo>
                  <a:close/>
                  <a:moveTo>
                    <a:pt x="7620000" y="3771392"/>
                  </a:moveTo>
                  <a:lnTo>
                    <a:pt x="7467600" y="3771392"/>
                  </a:lnTo>
                  <a:lnTo>
                    <a:pt x="7467600" y="3720592"/>
                  </a:lnTo>
                  <a:lnTo>
                    <a:pt x="7620000" y="3720592"/>
                  </a:lnTo>
                  <a:close/>
                  <a:moveTo>
                    <a:pt x="7264400" y="3720592"/>
                  </a:moveTo>
                  <a:lnTo>
                    <a:pt x="7112000" y="3720592"/>
                  </a:lnTo>
                  <a:lnTo>
                    <a:pt x="7112000" y="3669792"/>
                  </a:lnTo>
                  <a:lnTo>
                    <a:pt x="7264400" y="3669792"/>
                  </a:lnTo>
                  <a:close/>
                  <a:moveTo>
                    <a:pt x="6908800" y="3669792"/>
                  </a:moveTo>
                  <a:lnTo>
                    <a:pt x="6756400" y="3669792"/>
                  </a:lnTo>
                  <a:lnTo>
                    <a:pt x="6756400" y="3618992"/>
                  </a:lnTo>
                  <a:lnTo>
                    <a:pt x="6908800" y="3618992"/>
                  </a:lnTo>
                  <a:close/>
                  <a:moveTo>
                    <a:pt x="6553200" y="3618992"/>
                  </a:moveTo>
                  <a:lnTo>
                    <a:pt x="6400800" y="3618992"/>
                  </a:lnTo>
                  <a:lnTo>
                    <a:pt x="6400800" y="3568192"/>
                  </a:lnTo>
                  <a:lnTo>
                    <a:pt x="6553200" y="3568192"/>
                  </a:lnTo>
                  <a:close/>
                  <a:moveTo>
                    <a:pt x="6197600" y="3568192"/>
                  </a:moveTo>
                  <a:lnTo>
                    <a:pt x="6045200" y="3568192"/>
                  </a:lnTo>
                  <a:lnTo>
                    <a:pt x="6045200" y="3517392"/>
                  </a:lnTo>
                  <a:lnTo>
                    <a:pt x="6197600" y="3517392"/>
                  </a:lnTo>
                  <a:close/>
                  <a:moveTo>
                    <a:pt x="5842000" y="3517392"/>
                  </a:moveTo>
                  <a:lnTo>
                    <a:pt x="5689600" y="3517392"/>
                  </a:lnTo>
                  <a:lnTo>
                    <a:pt x="5689600" y="3466592"/>
                  </a:lnTo>
                  <a:lnTo>
                    <a:pt x="5842000" y="3466592"/>
                  </a:lnTo>
                  <a:close/>
                  <a:moveTo>
                    <a:pt x="5486400" y="3466592"/>
                  </a:moveTo>
                  <a:lnTo>
                    <a:pt x="5334000" y="3466592"/>
                  </a:lnTo>
                  <a:lnTo>
                    <a:pt x="5334000" y="3415792"/>
                  </a:lnTo>
                  <a:lnTo>
                    <a:pt x="5486400" y="3415792"/>
                  </a:lnTo>
                  <a:close/>
                  <a:moveTo>
                    <a:pt x="5130800" y="3415792"/>
                  </a:moveTo>
                  <a:lnTo>
                    <a:pt x="4978400" y="3415792"/>
                  </a:lnTo>
                  <a:lnTo>
                    <a:pt x="4978400" y="3364992"/>
                  </a:lnTo>
                  <a:lnTo>
                    <a:pt x="5130800" y="3364992"/>
                  </a:lnTo>
                  <a:close/>
                  <a:moveTo>
                    <a:pt x="4775200" y="3364992"/>
                  </a:moveTo>
                  <a:lnTo>
                    <a:pt x="4622800" y="3364992"/>
                  </a:lnTo>
                  <a:lnTo>
                    <a:pt x="4622800" y="3314192"/>
                  </a:lnTo>
                  <a:lnTo>
                    <a:pt x="4775200" y="3314192"/>
                  </a:lnTo>
                  <a:close/>
                  <a:moveTo>
                    <a:pt x="4419600" y="3314192"/>
                  </a:moveTo>
                  <a:lnTo>
                    <a:pt x="4267200" y="3314192"/>
                  </a:lnTo>
                  <a:lnTo>
                    <a:pt x="4267200" y="3263392"/>
                  </a:lnTo>
                  <a:lnTo>
                    <a:pt x="4419600" y="3263392"/>
                  </a:lnTo>
                  <a:close/>
                  <a:moveTo>
                    <a:pt x="4064000" y="3263392"/>
                  </a:moveTo>
                  <a:lnTo>
                    <a:pt x="3911600" y="3263392"/>
                  </a:lnTo>
                  <a:lnTo>
                    <a:pt x="3911600" y="3212592"/>
                  </a:lnTo>
                  <a:lnTo>
                    <a:pt x="4064000" y="3212592"/>
                  </a:lnTo>
                  <a:close/>
                  <a:moveTo>
                    <a:pt x="3708400" y="3212592"/>
                  </a:moveTo>
                  <a:lnTo>
                    <a:pt x="3556000" y="3212592"/>
                  </a:lnTo>
                  <a:lnTo>
                    <a:pt x="3556000" y="3161792"/>
                  </a:lnTo>
                  <a:lnTo>
                    <a:pt x="3708400" y="3161792"/>
                  </a:lnTo>
                  <a:close/>
                  <a:moveTo>
                    <a:pt x="3352800" y="3161792"/>
                  </a:moveTo>
                  <a:lnTo>
                    <a:pt x="3200400" y="3161792"/>
                  </a:lnTo>
                  <a:lnTo>
                    <a:pt x="3200400" y="3110992"/>
                  </a:lnTo>
                  <a:lnTo>
                    <a:pt x="3352800" y="3110992"/>
                  </a:lnTo>
                  <a:close/>
                  <a:moveTo>
                    <a:pt x="2997200" y="3110992"/>
                  </a:moveTo>
                  <a:lnTo>
                    <a:pt x="2844800" y="3110992"/>
                  </a:lnTo>
                  <a:lnTo>
                    <a:pt x="2844800" y="3060192"/>
                  </a:lnTo>
                  <a:lnTo>
                    <a:pt x="2997200" y="3060192"/>
                  </a:lnTo>
                  <a:close/>
                  <a:moveTo>
                    <a:pt x="2641600" y="3060192"/>
                  </a:moveTo>
                  <a:lnTo>
                    <a:pt x="2489200" y="3060192"/>
                  </a:lnTo>
                  <a:lnTo>
                    <a:pt x="2489200" y="3009392"/>
                  </a:lnTo>
                  <a:lnTo>
                    <a:pt x="2641600" y="3009392"/>
                  </a:lnTo>
                  <a:close/>
                  <a:moveTo>
                    <a:pt x="2286000" y="3009392"/>
                  </a:moveTo>
                  <a:lnTo>
                    <a:pt x="2133600" y="3009392"/>
                  </a:lnTo>
                  <a:lnTo>
                    <a:pt x="2133600" y="2958592"/>
                  </a:lnTo>
                  <a:lnTo>
                    <a:pt x="2286000" y="2958592"/>
                  </a:lnTo>
                  <a:close/>
                  <a:moveTo>
                    <a:pt x="1930400" y="2958592"/>
                  </a:moveTo>
                  <a:lnTo>
                    <a:pt x="1778000" y="2958592"/>
                  </a:lnTo>
                  <a:lnTo>
                    <a:pt x="1778000" y="2907792"/>
                  </a:lnTo>
                  <a:lnTo>
                    <a:pt x="1930400" y="2907792"/>
                  </a:lnTo>
                  <a:close/>
                  <a:moveTo>
                    <a:pt x="1574800" y="2907792"/>
                  </a:moveTo>
                  <a:lnTo>
                    <a:pt x="1422400" y="2907792"/>
                  </a:lnTo>
                  <a:lnTo>
                    <a:pt x="1422400" y="2856992"/>
                  </a:lnTo>
                  <a:lnTo>
                    <a:pt x="1574800" y="2856992"/>
                  </a:lnTo>
                  <a:close/>
                  <a:moveTo>
                    <a:pt x="1219200" y="2856992"/>
                  </a:moveTo>
                  <a:lnTo>
                    <a:pt x="1066800" y="2856992"/>
                  </a:lnTo>
                  <a:lnTo>
                    <a:pt x="1066800" y="2806192"/>
                  </a:lnTo>
                  <a:lnTo>
                    <a:pt x="1219200" y="2806192"/>
                  </a:lnTo>
                  <a:close/>
                  <a:moveTo>
                    <a:pt x="863600" y="2806192"/>
                  </a:moveTo>
                  <a:lnTo>
                    <a:pt x="711200" y="2806192"/>
                  </a:lnTo>
                  <a:lnTo>
                    <a:pt x="711200" y="2755392"/>
                  </a:lnTo>
                  <a:lnTo>
                    <a:pt x="863600" y="2755392"/>
                  </a:lnTo>
                  <a:close/>
                  <a:moveTo>
                    <a:pt x="508000" y="2755392"/>
                  </a:moveTo>
                  <a:lnTo>
                    <a:pt x="355600" y="2755392"/>
                  </a:lnTo>
                  <a:lnTo>
                    <a:pt x="355600" y="2704592"/>
                  </a:lnTo>
                  <a:lnTo>
                    <a:pt x="508000" y="2704592"/>
                  </a:lnTo>
                  <a:close/>
                  <a:moveTo>
                    <a:pt x="152400" y="2704592"/>
                  </a:moveTo>
                  <a:lnTo>
                    <a:pt x="0" y="2704592"/>
                  </a:lnTo>
                  <a:lnTo>
                    <a:pt x="0" y="2653792"/>
                  </a:lnTo>
                  <a:lnTo>
                    <a:pt x="152400" y="2653792"/>
                  </a:lnTo>
                  <a:close/>
                  <a:moveTo>
                    <a:pt x="765048" y="5647944"/>
                  </a:moveTo>
                  <a:lnTo>
                    <a:pt x="765048" y="5495544"/>
                  </a:lnTo>
                  <a:lnTo>
                    <a:pt x="815848" y="5495544"/>
                  </a:lnTo>
                  <a:lnTo>
                    <a:pt x="815848" y="5647944"/>
                  </a:lnTo>
                  <a:close/>
                  <a:moveTo>
                    <a:pt x="815848" y="5292344"/>
                  </a:moveTo>
                  <a:lnTo>
                    <a:pt x="815848" y="5139944"/>
                  </a:lnTo>
                  <a:lnTo>
                    <a:pt x="815848" y="5292344"/>
                  </a:lnTo>
                  <a:close/>
                  <a:moveTo>
                    <a:pt x="815848" y="4936744"/>
                  </a:moveTo>
                  <a:lnTo>
                    <a:pt x="815848" y="4784344"/>
                  </a:lnTo>
                  <a:lnTo>
                    <a:pt x="815848" y="4936744"/>
                  </a:lnTo>
                  <a:close/>
                  <a:moveTo>
                    <a:pt x="815848" y="4581144"/>
                  </a:moveTo>
                  <a:lnTo>
                    <a:pt x="815848" y="4428744"/>
                  </a:lnTo>
                  <a:lnTo>
                    <a:pt x="815848" y="4581144"/>
                  </a:lnTo>
                  <a:close/>
                  <a:moveTo>
                    <a:pt x="815848" y="4225544"/>
                  </a:moveTo>
                  <a:lnTo>
                    <a:pt x="815848" y="4073144"/>
                  </a:lnTo>
                  <a:lnTo>
                    <a:pt x="815848" y="4225544"/>
                  </a:lnTo>
                  <a:close/>
                  <a:moveTo>
                    <a:pt x="815848" y="3869944"/>
                  </a:moveTo>
                  <a:lnTo>
                    <a:pt x="815848" y="3717544"/>
                  </a:lnTo>
                  <a:lnTo>
                    <a:pt x="815848" y="3869944"/>
                  </a:lnTo>
                  <a:close/>
                  <a:moveTo>
                    <a:pt x="815848" y="3514344"/>
                  </a:moveTo>
                  <a:lnTo>
                    <a:pt x="815848" y="3361944"/>
                  </a:lnTo>
                  <a:lnTo>
                    <a:pt x="815848" y="3514344"/>
                  </a:lnTo>
                  <a:close/>
                  <a:moveTo>
                    <a:pt x="815848" y="3158744"/>
                  </a:moveTo>
                  <a:lnTo>
                    <a:pt x="815848" y="3006344"/>
                  </a:lnTo>
                  <a:lnTo>
                    <a:pt x="815848" y="3158744"/>
                  </a:lnTo>
                  <a:close/>
                  <a:moveTo>
                    <a:pt x="815848" y="2803144"/>
                  </a:moveTo>
                  <a:lnTo>
                    <a:pt x="815848" y="2650744"/>
                  </a:lnTo>
                  <a:lnTo>
                    <a:pt x="815848" y="2803144"/>
                  </a:lnTo>
                  <a:close/>
                  <a:moveTo>
                    <a:pt x="815848" y="2447544"/>
                  </a:moveTo>
                  <a:lnTo>
                    <a:pt x="815848" y="2295144"/>
                  </a:lnTo>
                  <a:lnTo>
                    <a:pt x="815848" y="2447544"/>
                  </a:lnTo>
                  <a:close/>
                  <a:moveTo>
                    <a:pt x="815848" y="2091944"/>
                  </a:moveTo>
                  <a:lnTo>
                    <a:pt x="815848" y="1939544"/>
                  </a:lnTo>
                  <a:lnTo>
                    <a:pt x="815848" y="2091944"/>
                  </a:lnTo>
                  <a:close/>
                  <a:moveTo>
                    <a:pt x="815848" y="1736344"/>
                  </a:moveTo>
                  <a:lnTo>
                    <a:pt x="815848" y="1583944"/>
                  </a:lnTo>
                  <a:lnTo>
                    <a:pt x="815848" y="1736344"/>
                  </a:lnTo>
                  <a:close/>
                  <a:moveTo>
                    <a:pt x="815848" y="1380744"/>
                  </a:moveTo>
                  <a:lnTo>
                    <a:pt x="815848" y="1228344"/>
                  </a:lnTo>
                  <a:lnTo>
                    <a:pt x="815848" y="1380744"/>
                  </a:lnTo>
                  <a:close/>
                  <a:moveTo>
                    <a:pt x="815848" y="1025144"/>
                  </a:moveTo>
                  <a:lnTo>
                    <a:pt x="815848" y="872744"/>
                  </a:lnTo>
                  <a:lnTo>
                    <a:pt x="815848" y="1025144"/>
                  </a:lnTo>
                  <a:close/>
                  <a:moveTo>
                    <a:pt x="815848" y="669544"/>
                  </a:moveTo>
                  <a:lnTo>
                    <a:pt x="815848" y="517144"/>
                  </a:lnTo>
                  <a:lnTo>
                    <a:pt x="815848" y="669544"/>
                  </a:lnTo>
                  <a:close/>
                  <a:moveTo>
                    <a:pt x="815848" y="313944"/>
                  </a:moveTo>
                  <a:lnTo>
                    <a:pt x="815848" y="161544"/>
                  </a:lnTo>
                  <a:lnTo>
                    <a:pt x="815848" y="313944"/>
                  </a:lnTo>
                  <a:close/>
                  <a:moveTo>
                    <a:pt x="790448" y="0"/>
                  </a:moveTo>
                  <a:lnTo>
                    <a:pt x="942848" y="0"/>
                  </a:lnTo>
                  <a:lnTo>
                    <a:pt x="942848" y="50800"/>
                  </a:lnTo>
                  <a:lnTo>
                    <a:pt x="790448" y="5080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4944" y="2779776"/>
            <a:ext cx="16824960" cy="4352544"/>
            <a:chOff x="0" y="0"/>
            <a:chExt cx="22433280" cy="58033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433280" cy="5803392"/>
            </a:xfrm>
            <a:custGeom>
              <a:avLst/>
              <a:gdLst/>
              <a:ahLst/>
              <a:cxnLst/>
              <a:rect r="r" b="b" t="t" l="l"/>
              <a:pathLst>
                <a:path h="58033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803392"/>
                  </a:lnTo>
                  <a:lnTo>
                    <a:pt x="0" y="5803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20" r="0" b="-2532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433280" cy="5851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44503" y="7777991"/>
            <a:ext cx="4048763" cy="1579883"/>
            <a:chOff x="0" y="0"/>
            <a:chExt cx="5398351" cy="2106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089531"/>
                  </a:lnTo>
                  <a:cubicBezTo>
                    <a:pt x="5398262" y="2098929"/>
                    <a:pt x="5390642" y="2106422"/>
                    <a:pt x="5381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381371" y="2072640"/>
                  </a:lnTo>
                  <a:lnTo>
                    <a:pt x="5381371" y="2089531"/>
                  </a:lnTo>
                  <a:lnTo>
                    <a:pt x="5364480" y="20895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4503" y="7777991"/>
            <a:ext cx="208283" cy="1579883"/>
            <a:chOff x="0" y="0"/>
            <a:chExt cx="277711" cy="21065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43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76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089531"/>
                  </a:lnTo>
                  <a:cubicBezTo>
                    <a:pt x="277622" y="2098929"/>
                    <a:pt x="270002" y="2106422"/>
                    <a:pt x="2607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60731" y="2072640"/>
                  </a:lnTo>
                  <a:lnTo>
                    <a:pt x="260731" y="2089531"/>
                  </a:lnTo>
                  <a:lnTo>
                    <a:pt x="243840" y="20895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6384" y="7900416"/>
            <a:ext cx="3566160" cy="512064"/>
            <a:chOff x="0" y="0"/>
            <a:chExt cx="47548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754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Layer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6384" y="8467344"/>
            <a:ext cx="3566160" cy="694944"/>
            <a:chOff x="0" y="0"/>
            <a:chExt cx="475488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Hourly vital signs, labs, demographics, oxygen support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70199" y="7777991"/>
            <a:ext cx="4048763" cy="1579883"/>
            <a:chOff x="0" y="0"/>
            <a:chExt cx="5398351" cy="21065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8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089531"/>
                  </a:lnTo>
                  <a:cubicBezTo>
                    <a:pt x="5398262" y="2098929"/>
                    <a:pt x="5390642" y="2106422"/>
                    <a:pt x="5381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381371" y="2072640"/>
                  </a:lnTo>
                  <a:lnTo>
                    <a:pt x="5381371" y="2089531"/>
                  </a:lnTo>
                  <a:lnTo>
                    <a:pt x="5364480" y="20895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4870199" y="7777991"/>
            <a:ext cx="208283" cy="1579883"/>
            <a:chOff x="0" y="0"/>
            <a:chExt cx="277711" cy="21065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43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891B2"/>
            </a:solidFill>
          </p:spPr>
          <p:txBody>
            <a:bodyPr/>
            <a:p/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776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089531"/>
                  </a:lnTo>
                  <a:cubicBezTo>
                    <a:pt x="277622" y="2098929"/>
                    <a:pt x="270002" y="2106422"/>
                    <a:pt x="2607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60731" y="2072640"/>
                  </a:lnTo>
                  <a:lnTo>
                    <a:pt x="260731" y="2089531"/>
                  </a:lnTo>
                  <a:lnTo>
                    <a:pt x="243840" y="20895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5212080" y="7900416"/>
            <a:ext cx="3566160" cy="512064"/>
            <a:chOff x="0" y="0"/>
            <a:chExt cx="47548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754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Extractor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212080" y="8467344"/>
            <a:ext cx="3566160" cy="694944"/>
            <a:chOff x="0" y="0"/>
            <a:chExt cx="475488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Episode reconstruction + 212 engineered tabular/time-series features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95895" y="7777991"/>
            <a:ext cx="4048763" cy="1579883"/>
            <a:chOff x="0" y="0"/>
            <a:chExt cx="5398351" cy="21065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98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089531"/>
                  </a:lnTo>
                  <a:cubicBezTo>
                    <a:pt x="5398262" y="2098929"/>
                    <a:pt x="5390642" y="2106422"/>
                    <a:pt x="5381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381371" y="2072640"/>
                  </a:lnTo>
                  <a:lnTo>
                    <a:pt x="5381371" y="2089531"/>
                  </a:lnTo>
                  <a:lnTo>
                    <a:pt x="5364480" y="20895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95895" y="7777991"/>
            <a:ext cx="208283" cy="1579883"/>
            <a:chOff x="0" y="0"/>
            <a:chExt cx="277711" cy="21065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43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776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089531"/>
                  </a:lnTo>
                  <a:cubicBezTo>
                    <a:pt x="277622" y="2098929"/>
                    <a:pt x="270002" y="2106422"/>
                    <a:pt x="2607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60731" y="2072640"/>
                  </a:lnTo>
                  <a:lnTo>
                    <a:pt x="260731" y="2089531"/>
                  </a:lnTo>
                  <a:lnTo>
                    <a:pt x="243840" y="20895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37776" y="7900416"/>
            <a:ext cx="3566160" cy="512064"/>
            <a:chOff x="0" y="0"/>
            <a:chExt cx="47548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754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Head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37776" y="8467344"/>
            <a:ext cx="3566160" cy="694944"/>
            <a:chOff x="0" y="0"/>
            <a:chExt cx="475488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CatBoostClassifier depth 8 with 1450 trees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21591" y="7777991"/>
            <a:ext cx="4048763" cy="1579883"/>
            <a:chOff x="0" y="0"/>
            <a:chExt cx="5398351" cy="21065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9826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089531"/>
                  </a:lnTo>
                  <a:cubicBezTo>
                    <a:pt x="5398262" y="2098929"/>
                    <a:pt x="5390642" y="2106422"/>
                    <a:pt x="53813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381371" y="2072640"/>
                  </a:lnTo>
                  <a:lnTo>
                    <a:pt x="5381371" y="2089531"/>
                  </a:lnTo>
                  <a:lnTo>
                    <a:pt x="5364480" y="20895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21591" y="7777991"/>
            <a:ext cx="208283" cy="1579883"/>
            <a:chOff x="0" y="0"/>
            <a:chExt cx="277711" cy="21065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438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p/>
          </p:txBody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776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089531"/>
                  </a:lnTo>
                  <a:cubicBezTo>
                    <a:pt x="277622" y="2098929"/>
                    <a:pt x="270002" y="2106422"/>
                    <a:pt x="2607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60731" y="2072640"/>
                  </a:lnTo>
                  <a:lnTo>
                    <a:pt x="260731" y="2089531"/>
                  </a:lnTo>
                  <a:lnTo>
                    <a:pt x="243840" y="20895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063472" y="7900416"/>
            <a:ext cx="3566160" cy="512064"/>
            <a:chOff x="0" y="0"/>
            <a:chExt cx="475488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754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063472" y="8467344"/>
            <a:ext cx="3566160" cy="694944"/>
            <a:chOff x="0" y="0"/>
            <a:chExt cx="47548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754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Probability of deterioration in next 12h + watch/alert band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489237" y="135098"/>
            <a:ext cx="2433003" cy="1028252"/>
            <a:chOff x="0" y="0"/>
            <a:chExt cx="3244004" cy="1371003"/>
          </a:xfrm>
        </p:grpSpPr>
        <p:grpSp>
          <p:nvGrpSpPr>
            <p:cNvPr name="Group 84" id="84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402923" y="68713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pic>
        <p:nvPicPr>
          <p:cNvPr id="89" name="Picture 88" descr="architecture_work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000000"/>
            <a:ext cx="16824960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025983" y="168021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Experiments &amp; Results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77137" y="1329442"/>
            <a:ext cx="17190720" cy="475488"/>
            <a:chOff x="0" y="0"/>
            <a:chExt cx="229209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Preliminary findings and evaluation metrics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1935" y="1916049"/>
            <a:ext cx="17344139" cy="1945643"/>
            <a:chOff x="0" y="0"/>
            <a:chExt cx="23125519" cy="259419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301071" cy="2594191"/>
              <a:chOff x="0" y="0"/>
              <a:chExt cx="4301071" cy="259419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6891"/>
                <a:ext cx="4267200" cy="2560320"/>
              </a:xfrm>
              <a:custGeom>
                <a:avLst/>
                <a:gdLst/>
                <a:ahLst/>
                <a:cxnLst/>
                <a:rect r="r" b="b" t="t" l="l"/>
                <a:pathLst>
                  <a:path h="2560320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2560320"/>
                    </a:lnTo>
                    <a:lnTo>
                      <a:pt x="0" y="25603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300982" cy="2594102"/>
              </a:xfrm>
              <a:custGeom>
                <a:avLst/>
                <a:gdLst/>
                <a:ahLst/>
                <a:cxnLst/>
                <a:rect r="r" b="b" t="t" l="l"/>
                <a:pathLst>
                  <a:path h="2594102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2577211"/>
                    </a:lnTo>
                    <a:cubicBezTo>
                      <a:pt x="4300982" y="2586609"/>
                      <a:pt x="4293362" y="2594102"/>
                      <a:pt x="4284091" y="2594102"/>
                    </a:cubicBezTo>
                    <a:lnTo>
                      <a:pt x="16891" y="2594102"/>
                    </a:lnTo>
                    <a:cubicBezTo>
                      <a:pt x="7493" y="2594102"/>
                      <a:pt x="0" y="2586482"/>
                      <a:pt x="0" y="257721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577211"/>
                    </a:lnTo>
                    <a:lnTo>
                      <a:pt x="16891" y="2577211"/>
                    </a:lnTo>
                    <a:lnTo>
                      <a:pt x="16891" y="2560320"/>
                    </a:lnTo>
                    <a:lnTo>
                      <a:pt x="4284091" y="2560320"/>
                    </a:lnTo>
                    <a:lnTo>
                      <a:pt x="4284091" y="2577211"/>
                    </a:lnTo>
                    <a:lnTo>
                      <a:pt x="4267200" y="2577211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4301071" cy="375247"/>
              <a:chOff x="0" y="0"/>
              <a:chExt cx="4301071" cy="37524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6891"/>
                <a:ext cx="4267200" cy="341376"/>
              </a:xfrm>
              <a:custGeom>
                <a:avLst/>
                <a:gdLst/>
                <a:ahLst/>
                <a:cxnLst/>
                <a:rect r="r" b="b" t="t" l="l"/>
                <a:pathLst>
                  <a:path h="341376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341376"/>
                    </a:lnTo>
                    <a:lnTo>
                      <a:pt x="0" y="341376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300982" cy="375160"/>
              </a:xfrm>
              <a:custGeom>
                <a:avLst/>
                <a:gdLst/>
                <a:ahLst/>
                <a:cxnLst/>
                <a:rect r="r" b="b" t="t" l="l"/>
                <a:pathLst>
                  <a:path h="375160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358267"/>
                    </a:lnTo>
                    <a:cubicBezTo>
                      <a:pt x="4300982" y="367665"/>
                      <a:pt x="4293362" y="375158"/>
                      <a:pt x="4284091" y="375158"/>
                    </a:cubicBezTo>
                    <a:lnTo>
                      <a:pt x="16891" y="375158"/>
                    </a:lnTo>
                    <a:cubicBezTo>
                      <a:pt x="7620" y="375285"/>
                      <a:pt x="0" y="367665"/>
                      <a:pt x="0" y="358267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58267"/>
                    </a:lnTo>
                    <a:lnTo>
                      <a:pt x="16891" y="358267"/>
                    </a:lnTo>
                    <a:lnTo>
                      <a:pt x="16891" y="341376"/>
                    </a:lnTo>
                    <a:lnTo>
                      <a:pt x="4284091" y="341376"/>
                    </a:lnTo>
                    <a:lnTo>
                      <a:pt x="4284091" y="358267"/>
                    </a:lnTo>
                    <a:lnTo>
                      <a:pt x="4267200" y="358267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929" y="455841"/>
              <a:ext cx="4267200" cy="1267968"/>
              <a:chOff x="0" y="0"/>
              <a:chExt cx="4267200" cy="126796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26720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574" r="0" b="-15574"/>
                </a:stretch>
              </a:blipFill>
            </p:spPr>
            <p:txBody>
              <a:bodyPr/>
              <a:p/>
            </p:txBody>
          </p:sp>
          <p:sp>
            <p:nvSpPr>
              <p:cNvPr name="TextBox 32" id="32"/>
              <p:cNvSpPr txBox="true"/>
              <p:nvPr/>
            </p:nvSpPr>
            <p:spPr>
              <a:xfrm>
                <a:off x="0" y="-104775"/>
                <a:ext cx="4267200" cy="1372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t>97.12%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6929" y="1772577"/>
              <a:ext cx="4267200" cy="633984"/>
              <a:chOff x="0" y="0"/>
              <a:chExt cx="4267200" cy="63398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2672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1149" r="0" b="-81149"/>
                </a:stretch>
              </a:blipFill>
            </p:spPr>
            <p:txBody>
              <a:bodyPr/>
              <a:p/>
            </p:txBody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426720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Accuracy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706112" y="0"/>
              <a:ext cx="4301071" cy="2594191"/>
              <a:chOff x="0" y="0"/>
              <a:chExt cx="4301071" cy="259419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6891" y="16891"/>
                <a:ext cx="4267200" cy="2560320"/>
              </a:xfrm>
              <a:custGeom>
                <a:avLst/>
                <a:gdLst/>
                <a:ahLst/>
                <a:cxnLst/>
                <a:rect r="r" b="b" t="t" l="l"/>
                <a:pathLst>
                  <a:path h="2560320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2560320"/>
                    </a:lnTo>
                    <a:lnTo>
                      <a:pt x="0" y="25603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300982" cy="2594102"/>
              </a:xfrm>
              <a:custGeom>
                <a:avLst/>
                <a:gdLst/>
                <a:ahLst/>
                <a:cxnLst/>
                <a:rect r="r" b="b" t="t" l="l"/>
                <a:pathLst>
                  <a:path h="2594102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2577211"/>
                    </a:lnTo>
                    <a:cubicBezTo>
                      <a:pt x="4300982" y="2586609"/>
                      <a:pt x="4293362" y="2594102"/>
                      <a:pt x="4284091" y="2594102"/>
                    </a:cubicBezTo>
                    <a:lnTo>
                      <a:pt x="16891" y="2594102"/>
                    </a:lnTo>
                    <a:cubicBezTo>
                      <a:pt x="7493" y="2594102"/>
                      <a:pt x="0" y="2586482"/>
                      <a:pt x="0" y="257721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577211"/>
                    </a:lnTo>
                    <a:lnTo>
                      <a:pt x="16891" y="2577211"/>
                    </a:lnTo>
                    <a:lnTo>
                      <a:pt x="16891" y="2560320"/>
                    </a:lnTo>
                    <a:lnTo>
                      <a:pt x="4284091" y="2560320"/>
                    </a:lnTo>
                    <a:lnTo>
                      <a:pt x="4284091" y="2577211"/>
                    </a:lnTo>
                    <a:lnTo>
                      <a:pt x="4267200" y="2577211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706112" y="0"/>
              <a:ext cx="4301071" cy="375247"/>
              <a:chOff x="0" y="0"/>
              <a:chExt cx="4301071" cy="37524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4267200" cy="341376"/>
              </a:xfrm>
              <a:custGeom>
                <a:avLst/>
                <a:gdLst/>
                <a:ahLst/>
                <a:cxnLst/>
                <a:rect r="r" b="b" t="t" l="l"/>
                <a:pathLst>
                  <a:path h="341376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341376"/>
                    </a:lnTo>
                    <a:lnTo>
                      <a:pt x="0" y="341376"/>
                    </a:lnTo>
                    <a:close/>
                  </a:path>
                </a:pathLst>
              </a:custGeom>
              <a:solidFill>
                <a:srgbClr val="0891B2"/>
              </a:solidFill>
            </p:spPr>
            <p:txBody>
              <a:bodyPr/>
              <a:p/>
            </p:txBody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300982" cy="375160"/>
              </a:xfrm>
              <a:custGeom>
                <a:avLst/>
                <a:gdLst/>
                <a:ahLst/>
                <a:cxnLst/>
                <a:rect r="r" b="b" t="t" l="l"/>
                <a:pathLst>
                  <a:path h="375160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358267"/>
                    </a:lnTo>
                    <a:cubicBezTo>
                      <a:pt x="4300982" y="367665"/>
                      <a:pt x="4293362" y="375158"/>
                      <a:pt x="4284091" y="375158"/>
                    </a:cubicBezTo>
                    <a:lnTo>
                      <a:pt x="16891" y="375158"/>
                    </a:lnTo>
                    <a:cubicBezTo>
                      <a:pt x="7620" y="375285"/>
                      <a:pt x="0" y="367665"/>
                      <a:pt x="0" y="358267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58267"/>
                    </a:lnTo>
                    <a:lnTo>
                      <a:pt x="16891" y="358267"/>
                    </a:lnTo>
                    <a:lnTo>
                      <a:pt x="16891" y="341376"/>
                    </a:lnTo>
                    <a:lnTo>
                      <a:pt x="4284091" y="341376"/>
                    </a:lnTo>
                    <a:lnTo>
                      <a:pt x="4284091" y="358267"/>
                    </a:lnTo>
                    <a:lnTo>
                      <a:pt x="4267200" y="358267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891B2"/>
              </a:solidFill>
            </p:spPr>
            <p:txBody>
              <a:bodyPr/>
              <a:p/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723041" y="455841"/>
              <a:ext cx="4267200" cy="1267968"/>
              <a:chOff x="0" y="0"/>
              <a:chExt cx="4267200" cy="126796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26720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574" r="0" b="-15574"/>
                </a:stretch>
              </a:blipFill>
            </p:spPr>
            <p:txBody>
              <a:bodyPr/>
              <a:p/>
            </p:txBody>
          </p:sp>
          <p:sp>
            <p:nvSpPr>
              <p:cNvPr name="TextBox 44" id="44"/>
              <p:cNvSpPr txBox="true"/>
              <p:nvPr/>
            </p:nvSpPr>
            <p:spPr>
              <a:xfrm>
                <a:off x="0" y="-104775"/>
                <a:ext cx="4267200" cy="1372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t>75.07%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723041" y="1772577"/>
              <a:ext cx="4267200" cy="633984"/>
              <a:chOff x="0" y="0"/>
              <a:chExt cx="4267200" cy="633984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2672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1149" r="0" b="-81149"/>
                </a:stretch>
              </a:blipFill>
            </p:spPr>
            <p:txBody>
              <a:bodyPr/>
              <a:p/>
            </p:txBody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426720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Precision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9412224" y="0"/>
              <a:ext cx="4301071" cy="2594191"/>
              <a:chOff x="0" y="0"/>
              <a:chExt cx="4301071" cy="259419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4267200" cy="2560320"/>
              </a:xfrm>
              <a:custGeom>
                <a:avLst/>
                <a:gdLst/>
                <a:ahLst/>
                <a:cxnLst/>
                <a:rect r="r" b="b" t="t" l="l"/>
                <a:pathLst>
                  <a:path h="2560320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2560320"/>
                    </a:lnTo>
                    <a:lnTo>
                      <a:pt x="0" y="25603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300982" cy="2594102"/>
              </a:xfrm>
              <a:custGeom>
                <a:avLst/>
                <a:gdLst/>
                <a:ahLst/>
                <a:cxnLst/>
                <a:rect r="r" b="b" t="t" l="l"/>
                <a:pathLst>
                  <a:path h="2594102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2577211"/>
                    </a:lnTo>
                    <a:cubicBezTo>
                      <a:pt x="4300982" y="2586609"/>
                      <a:pt x="4293362" y="2594102"/>
                      <a:pt x="4284091" y="2594102"/>
                    </a:cubicBezTo>
                    <a:lnTo>
                      <a:pt x="16891" y="2594102"/>
                    </a:lnTo>
                    <a:cubicBezTo>
                      <a:pt x="7493" y="2594102"/>
                      <a:pt x="0" y="2586482"/>
                      <a:pt x="0" y="257721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577211"/>
                    </a:lnTo>
                    <a:lnTo>
                      <a:pt x="16891" y="2577211"/>
                    </a:lnTo>
                    <a:lnTo>
                      <a:pt x="16891" y="2560320"/>
                    </a:lnTo>
                    <a:lnTo>
                      <a:pt x="4284091" y="2560320"/>
                    </a:lnTo>
                    <a:lnTo>
                      <a:pt x="4284091" y="2577211"/>
                    </a:lnTo>
                    <a:lnTo>
                      <a:pt x="4267200" y="2577211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9412224" y="0"/>
              <a:ext cx="4301071" cy="375247"/>
              <a:chOff x="0" y="0"/>
              <a:chExt cx="4301071" cy="37524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4267200" cy="341376"/>
              </a:xfrm>
              <a:custGeom>
                <a:avLst/>
                <a:gdLst/>
                <a:ahLst/>
                <a:cxnLst/>
                <a:rect r="r" b="b" t="t" l="l"/>
                <a:pathLst>
                  <a:path h="341376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341376"/>
                    </a:lnTo>
                    <a:lnTo>
                      <a:pt x="0" y="341376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  <p:txBody>
              <a:bodyPr/>
              <a:p/>
            </p:txBody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300982" cy="375160"/>
              </a:xfrm>
              <a:custGeom>
                <a:avLst/>
                <a:gdLst/>
                <a:ahLst/>
                <a:cxnLst/>
                <a:rect r="r" b="b" t="t" l="l"/>
                <a:pathLst>
                  <a:path h="375160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358267"/>
                    </a:lnTo>
                    <a:cubicBezTo>
                      <a:pt x="4300982" y="367665"/>
                      <a:pt x="4293362" y="375158"/>
                      <a:pt x="4284091" y="375158"/>
                    </a:cubicBezTo>
                    <a:lnTo>
                      <a:pt x="16891" y="375158"/>
                    </a:lnTo>
                    <a:cubicBezTo>
                      <a:pt x="7620" y="375285"/>
                      <a:pt x="0" y="367665"/>
                      <a:pt x="0" y="358267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58267"/>
                    </a:lnTo>
                    <a:lnTo>
                      <a:pt x="16891" y="358267"/>
                    </a:lnTo>
                    <a:lnTo>
                      <a:pt x="16891" y="341376"/>
                    </a:lnTo>
                    <a:lnTo>
                      <a:pt x="4284091" y="341376"/>
                    </a:lnTo>
                    <a:lnTo>
                      <a:pt x="4284091" y="358267"/>
                    </a:lnTo>
                    <a:lnTo>
                      <a:pt x="4267200" y="358267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  <p:txBody>
              <a:bodyPr/>
              <a:p/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9429153" y="455841"/>
              <a:ext cx="4267200" cy="1267968"/>
              <a:chOff x="0" y="0"/>
              <a:chExt cx="4267200" cy="126796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26720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574" r="0" b="-15574"/>
                </a:stretch>
              </a:blipFill>
            </p:spPr>
            <p:txBody>
              <a:bodyPr/>
              <a:p/>
            </p:txBody>
          </p:sp>
          <p:sp>
            <p:nvSpPr>
              <p:cNvPr name="TextBox 56" id="56"/>
              <p:cNvSpPr txBox="true"/>
              <p:nvPr/>
            </p:nvSpPr>
            <p:spPr>
              <a:xfrm>
                <a:off x="0" y="-104775"/>
                <a:ext cx="4267200" cy="1372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t>67.68%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9429153" y="1772577"/>
              <a:ext cx="4267200" cy="633984"/>
              <a:chOff x="0" y="0"/>
              <a:chExt cx="4267200" cy="63398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2672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1149" r="0" b="-81149"/>
                </a:stretch>
              </a:blipFill>
            </p:spPr>
            <p:txBody>
              <a:bodyPr/>
              <a:p/>
            </p:txBody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426720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Recall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4118336" y="0"/>
              <a:ext cx="4301071" cy="2594191"/>
              <a:chOff x="0" y="0"/>
              <a:chExt cx="4301071" cy="259419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4267200" cy="2560320"/>
              </a:xfrm>
              <a:custGeom>
                <a:avLst/>
                <a:gdLst/>
                <a:ahLst/>
                <a:cxnLst/>
                <a:rect r="r" b="b" t="t" l="l"/>
                <a:pathLst>
                  <a:path h="2560320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2560320"/>
                    </a:lnTo>
                    <a:lnTo>
                      <a:pt x="0" y="25603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300982" cy="2594102"/>
              </a:xfrm>
              <a:custGeom>
                <a:avLst/>
                <a:gdLst/>
                <a:ahLst/>
                <a:cxnLst/>
                <a:rect r="r" b="b" t="t" l="l"/>
                <a:pathLst>
                  <a:path h="2594102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2577211"/>
                    </a:lnTo>
                    <a:cubicBezTo>
                      <a:pt x="4300982" y="2586609"/>
                      <a:pt x="4293362" y="2594102"/>
                      <a:pt x="4284091" y="2594102"/>
                    </a:cubicBezTo>
                    <a:lnTo>
                      <a:pt x="16891" y="2594102"/>
                    </a:lnTo>
                    <a:cubicBezTo>
                      <a:pt x="7493" y="2594102"/>
                      <a:pt x="0" y="2586482"/>
                      <a:pt x="0" y="257721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577211"/>
                    </a:lnTo>
                    <a:lnTo>
                      <a:pt x="16891" y="2577211"/>
                    </a:lnTo>
                    <a:lnTo>
                      <a:pt x="16891" y="2560320"/>
                    </a:lnTo>
                    <a:lnTo>
                      <a:pt x="4284091" y="2560320"/>
                    </a:lnTo>
                    <a:lnTo>
                      <a:pt x="4284091" y="2577211"/>
                    </a:lnTo>
                    <a:lnTo>
                      <a:pt x="4267200" y="2577211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4118336" y="0"/>
              <a:ext cx="4301071" cy="375247"/>
              <a:chOff x="0" y="0"/>
              <a:chExt cx="4301071" cy="375247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6891"/>
                <a:ext cx="4267200" cy="341376"/>
              </a:xfrm>
              <a:custGeom>
                <a:avLst/>
                <a:gdLst/>
                <a:ahLst/>
                <a:cxnLst/>
                <a:rect r="r" b="b" t="t" l="l"/>
                <a:pathLst>
                  <a:path h="341376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341376"/>
                    </a:lnTo>
                    <a:lnTo>
                      <a:pt x="0" y="341376"/>
                    </a:lnTo>
                    <a:close/>
                  </a:path>
                </a:pathLst>
              </a:custGeom>
              <a:solidFill>
                <a:srgbClr val="F59E0B"/>
              </a:solidFill>
            </p:spPr>
            <p:txBody>
              <a:bodyPr/>
              <a:p/>
            </p:txBody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300982" cy="375160"/>
              </a:xfrm>
              <a:custGeom>
                <a:avLst/>
                <a:gdLst/>
                <a:ahLst/>
                <a:cxnLst/>
                <a:rect r="r" b="b" t="t" l="l"/>
                <a:pathLst>
                  <a:path h="375160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358267"/>
                    </a:lnTo>
                    <a:cubicBezTo>
                      <a:pt x="4300982" y="367665"/>
                      <a:pt x="4293362" y="375158"/>
                      <a:pt x="4284091" y="375158"/>
                    </a:cubicBezTo>
                    <a:lnTo>
                      <a:pt x="16891" y="375158"/>
                    </a:lnTo>
                    <a:cubicBezTo>
                      <a:pt x="7620" y="375285"/>
                      <a:pt x="0" y="367665"/>
                      <a:pt x="0" y="358267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58267"/>
                    </a:lnTo>
                    <a:lnTo>
                      <a:pt x="16891" y="358267"/>
                    </a:lnTo>
                    <a:lnTo>
                      <a:pt x="16891" y="341376"/>
                    </a:lnTo>
                    <a:lnTo>
                      <a:pt x="4284091" y="341376"/>
                    </a:lnTo>
                    <a:lnTo>
                      <a:pt x="4284091" y="358267"/>
                    </a:lnTo>
                    <a:lnTo>
                      <a:pt x="4267200" y="358267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59E0B"/>
              </a:solidFill>
            </p:spPr>
            <p:txBody>
              <a:bodyPr/>
              <a:p/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14135265" y="455841"/>
              <a:ext cx="4267200" cy="1267968"/>
              <a:chOff x="0" y="0"/>
              <a:chExt cx="4267200" cy="1267968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426720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574" r="0" b="-15574"/>
                </a:stretch>
              </a:blipFill>
            </p:spPr>
            <p:txBody>
              <a:bodyPr/>
              <a:p/>
            </p:txBody>
          </p:sp>
          <p:sp>
            <p:nvSpPr>
              <p:cNvPr name="TextBox 68" id="68"/>
              <p:cNvSpPr txBox="true"/>
              <p:nvPr/>
            </p:nvSpPr>
            <p:spPr>
              <a:xfrm>
                <a:off x="0" y="-104775"/>
                <a:ext cx="4267200" cy="1372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t>0.712</a:t>
                </a: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14135265" y="1772577"/>
              <a:ext cx="4267200" cy="633984"/>
              <a:chOff x="0" y="0"/>
              <a:chExt cx="4267200" cy="63398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42672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1149" r="0" b="-81149"/>
                </a:stretch>
              </a:blipFill>
            </p:spPr>
            <p:txBody>
              <a:bodyPr/>
              <a:p/>
            </p:txBody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426720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F1-Score</a:t>
                </a: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18824448" y="0"/>
              <a:ext cx="4301071" cy="2594191"/>
              <a:chOff x="0" y="0"/>
              <a:chExt cx="4301071" cy="2594191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16891" y="16891"/>
                <a:ext cx="4267200" cy="2560320"/>
              </a:xfrm>
              <a:custGeom>
                <a:avLst/>
                <a:gdLst/>
                <a:ahLst/>
                <a:cxnLst/>
                <a:rect r="r" b="b" t="t" l="l"/>
                <a:pathLst>
                  <a:path h="2560320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2560320"/>
                    </a:lnTo>
                    <a:lnTo>
                      <a:pt x="0" y="25603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4300982" cy="2594102"/>
              </a:xfrm>
              <a:custGeom>
                <a:avLst/>
                <a:gdLst/>
                <a:ahLst/>
                <a:cxnLst/>
                <a:rect r="r" b="b" t="t" l="l"/>
                <a:pathLst>
                  <a:path h="2594102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2577211"/>
                    </a:lnTo>
                    <a:cubicBezTo>
                      <a:pt x="4300982" y="2586609"/>
                      <a:pt x="4293362" y="2594102"/>
                      <a:pt x="4284091" y="2594102"/>
                    </a:cubicBezTo>
                    <a:lnTo>
                      <a:pt x="16891" y="2594102"/>
                    </a:lnTo>
                    <a:cubicBezTo>
                      <a:pt x="7493" y="2594102"/>
                      <a:pt x="0" y="2586482"/>
                      <a:pt x="0" y="257721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577211"/>
                    </a:lnTo>
                    <a:lnTo>
                      <a:pt x="16891" y="2577211"/>
                    </a:lnTo>
                    <a:lnTo>
                      <a:pt x="16891" y="2560320"/>
                    </a:lnTo>
                    <a:lnTo>
                      <a:pt x="4284091" y="2560320"/>
                    </a:lnTo>
                    <a:lnTo>
                      <a:pt x="4284091" y="2577211"/>
                    </a:lnTo>
                    <a:lnTo>
                      <a:pt x="4267200" y="2577211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18824448" y="0"/>
              <a:ext cx="4301071" cy="375247"/>
              <a:chOff x="0" y="0"/>
              <a:chExt cx="4301071" cy="375247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6891"/>
                <a:ext cx="4267200" cy="341376"/>
              </a:xfrm>
              <a:custGeom>
                <a:avLst/>
                <a:gdLst/>
                <a:ahLst/>
                <a:cxnLst/>
                <a:rect r="r" b="b" t="t" l="l"/>
                <a:pathLst>
                  <a:path h="341376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341376"/>
                    </a:lnTo>
                    <a:lnTo>
                      <a:pt x="0" y="341376"/>
                    </a:lnTo>
                    <a:close/>
                  </a:path>
                </a:pathLst>
              </a:custGeom>
              <a:solidFill>
                <a:srgbClr val="0B1F4B"/>
              </a:solidFill>
            </p:spPr>
            <p:txBody>
              <a:bodyPr/>
              <a:p/>
            </p:txBody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4300982" cy="375160"/>
              </a:xfrm>
              <a:custGeom>
                <a:avLst/>
                <a:gdLst/>
                <a:ahLst/>
                <a:cxnLst/>
                <a:rect r="r" b="b" t="t" l="l"/>
                <a:pathLst>
                  <a:path h="375160" w="4300982">
                    <a:moveTo>
                      <a:pt x="16891" y="0"/>
                    </a:moveTo>
                    <a:lnTo>
                      <a:pt x="4284091" y="0"/>
                    </a:lnTo>
                    <a:cubicBezTo>
                      <a:pt x="4293489" y="0"/>
                      <a:pt x="4300982" y="7620"/>
                      <a:pt x="4300982" y="16891"/>
                    </a:cubicBezTo>
                    <a:lnTo>
                      <a:pt x="4300982" y="358267"/>
                    </a:lnTo>
                    <a:cubicBezTo>
                      <a:pt x="4300982" y="367665"/>
                      <a:pt x="4293362" y="375158"/>
                      <a:pt x="4284091" y="375158"/>
                    </a:cubicBezTo>
                    <a:lnTo>
                      <a:pt x="16891" y="375158"/>
                    </a:lnTo>
                    <a:cubicBezTo>
                      <a:pt x="7620" y="375285"/>
                      <a:pt x="0" y="367665"/>
                      <a:pt x="0" y="358267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358267"/>
                    </a:lnTo>
                    <a:lnTo>
                      <a:pt x="16891" y="358267"/>
                    </a:lnTo>
                    <a:lnTo>
                      <a:pt x="16891" y="341376"/>
                    </a:lnTo>
                    <a:lnTo>
                      <a:pt x="4284091" y="341376"/>
                    </a:lnTo>
                    <a:lnTo>
                      <a:pt x="4284091" y="358267"/>
                    </a:lnTo>
                    <a:lnTo>
                      <a:pt x="4267200" y="358267"/>
                    </a:lnTo>
                    <a:lnTo>
                      <a:pt x="4267200" y="16891"/>
                    </a:lnTo>
                    <a:lnTo>
                      <a:pt x="4284091" y="16891"/>
                    </a:lnTo>
                    <a:lnTo>
                      <a:pt x="4284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B1F4B"/>
              </a:solidFill>
            </p:spPr>
            <p:txBody>
              <a:bodyPr/>
              <a:p/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18841377" y="455841"/>
              <a:ext cx="4267200" cy="1267968"/>
              <a:chOff x="0" y="0"/>
              <a:chExt cx="4267200" cy="1267968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4267200" cy="1267968"/>
              </a:xfrm>
              <a:custGeom>
                <a:avLst/>
                <a:gdLst/>
                <a:ahLst/>
                <a:cxnLst/>
                <a:rect r="r" b="b" t="t" l="l"/>
                <a:pathLst>
                  <a:path h="1267968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574" r="0" b="-15574"/>
                </a:stretch>
              </a:blipFill>
            </p:spPr>
            <p:txBody>
              <a:bodyPr/>
              <a:p/>
            </p:txBody>
          </p:sp>
          <p:sp>
            <p:nvSpPr>
              <p:cNvPr name="TextBox 80" id="80"/>
              <p:cNvSpPr txBox="true"/>
              <p:nvPr/>
            </p:nvSpPr>
            <p:spPr>
              <a:xfrm>
                <a:off x="0" y="-104775"/>
                <a:ext cx="4267200" cy="1372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t>0.963</a:t>
                </a: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8841377" y="1772577"/>
              <a:ext cx="4267200" cy="633984"/>
              <a:chOff x="0" y="0"/>
              <a:chExt cx="4267200" cy="633984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42672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1149" r="0" b="-81149"/>
                </a:stretch>
              </a:blipFill>
            </p:spPr>
            <p:txBody>
              <a:bodyPr/>
              <a:p/>
            </p:txBody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426720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AUC-ROC</a:t>
                </a:r>
              </a:p>
            </p:txBody>
          </p:sp>
        </p:grpSp>
      </p:grpSp>
      <p:grpSp>
        <p:nvGrpSpPr>
          <p:cNvPr name="Group 84" id="84"/>
          <p:cNvGrpSpPr/>
          <p:nvPr/>
        </p:nvGrpSpPr>
        <p:grpSpPr>
          <a:xfrm rot="0">
            <a:off x="353063" y="4156967"/>
            <a:ext cx="10632443" cy="5328923"/>
            <a:chOff x="0" y="0"/>
            <a:chExt cx="14176591" cy="71052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14142719" cy="7071360"/>
            </a:xfrm>
            <a:custGeom>
              <a:avLst/>
              <a:gdLst/>
              <a:ahLst/>
              <a:cxnLst/>
              <a:rect r="r" b="b" t="t" l="l"/>
              <a:pathLst>
                <a:path h="7071360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176502" cy="7105142"/>
            </a:xfrm>
            <a:custGeom>
              <a:avLst/>
              <a:gdLst/>
              <a:ahLst/>
              <a:cxnLst/>
              <a:rect r="r" b="b" t="t" l="l"/>
              <a:pathLst>
                <a:path h="7105142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7088251"/>
                  </a:lnTo>
                  <a:cubicBezTo>
                    <a:pt x="14176502" y="7097649"/>
                    <a:pt x="14168882" y="7105142"/>
                    <a:pt x="14159610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14159610" y="7071360"/>
                  </a:lnTo>
                  <a:lnTo>
                    <a:pt x="14159610" y="7088251"/>
                  </a:lnTo>
                  <a:lnTo>
                    <a:pt x="14142720" y="7088251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87" id="87"/>
          <p:cNvGrpSpPr/>
          <p:nvPr/>
        </p:nvGrpSpPr>
        <p:grpSpPr>
          <a:xfrm rot="0">
            <a:off x="694944" y="4352544"/>
            <a:ext cx="9875520" cy="475488"/>
            <a:chOff x="0" y="0"/>
            <a:chExt cx="13167360" cy="6339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167361" cy="633984"/>
            </a:xfrm>
            <a:custGeom>
              <a:avLst/>
              <a:gdLst/>
              <a:ahLst/>
              <a:cxnLst/>
              <a:rect r="r" b="b" t="t" l="l"/>
              <a:pathLst>
                <a:path h="63398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689" r="0" b="-354689"/>
              </a:stretch>
            </a:blipFill>
          </p:spPr>
          <p:txBody>
            <a:bodyPr/>
            <a:p/>
          </p:txBody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3167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EXPERIMENT LOG</a:t>
              </a:r>
            </a:p>
          </p:txBody>
        </p:sp>
      </p:grpSp>
      <p:graphicFrame>
        <p:nvGraphicFramePr>
          <p:cNvPr name="Table 90" id="90"/>
          <p:cNvGraphicFramePr>
            <a:graphicFrameLocks noGrp="true"/>
          </p:cNvGraphicFramePr>
          <p:nvPr/>
        </p:nvGraphicFramePr>
        <p:xfrm>
          <a:off x="548640" y="4974336"/>
          <a:ext cx="10210800" cy="3937000"/>
        </p:xfrm>
        <a:graphic>
          <a:graphicData uri="http://schemas.openxmlformats.org/drawingml/2006/table">
            <a:tbl>
              <a:tblPr/>
              <a:tblGrid>
                <a:gridCol w="1294884"/>
                <a:gridCol w="2184498"/>
                <a:gridCol w="1116961"/>
                <a:gridCol w="1116961"/>
                <a:gridCol w="4497497"/>
              </a:tblGrid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Experiment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PR-AUC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ROC-AUC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r>
                        <a:t>Exp 1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Baseline CatBoost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0.711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0.965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Repo baseline from train_model.py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r>
                        <a:t>Exp 2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Saved Repo Best CatBoost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0.732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0.962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Previous best checked into the repo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r>
                        <a:t>Exp 3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Final Tuned CatBoost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0.740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0.963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Best overall score after revalidation and focused tuning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r>
                        <a:t>Exp 4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focused_subsample_lr0045_iter1600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0.737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0.963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r>
                        <a:t>Next-best nearby CatBoost configuration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1" id="91"/>
          <p:cNvGrpSpPr/>
          <p:nvPr/>
        </p:nvGrpSpPr>
        <p:grpSpPr>
          <a:xfrm rot="0">
            <a:off x="11325863" y="4156967"/>
            <a:ext cx="6609083" cy="5328923"/>
            <a:chOff x="0" y="0"/>
            <a:chExt cx="8812111" cy="710523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8778240" cy="7071360"/>
            </a:xfrm>
            <a:custGeom>
              <a:avLst/>
              <a:gdLst/>
              <a:ahLst/>
              <a:cxnLst/>
              <a:rect r="r" b="b" t="t" l="l"/>
              <a:pathLst>
                <a:path h="7071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812022" cy="7105142"/>
            </a:xfrm>
            <a:custGeom>
              <a:avLst/>
              <a:gdLst/>
              <a:ahLst/>
              <a:cxnLst/>
              <a:rect r="r" b="b" t="t" l="l"/>
              <a:pathLst>
                <a:path h="710514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7088251"/>
                  </a:lnTo>
                  <a:cubicBezTo>
                    <a:pt x="8812022" y="7097649"/>
                    <a:pt x="8804402" y="7105142"/>
                    <a:pt x="8795131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8795131" y="7071360"/>
                  </a:lnTo>
                  <a:lnTo>
                    <a:pt x="8795131" y="7088251"/>
                  </a:lnTo>
                  <a:lnTo>
                    <a:pt x="8778240" y="708825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667744" y="4352544"/>
            <a:ext cx="6035040" cy="475488"/>
            <a:chOff x="0" y="0"/>
            <a:chExt cx="8046720" cy="6339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046720" cy="633984"/>
            </a:xfrm>
            <a:custGeom>
              <a:avLst/>
              <a:gdLst/>
              <a:ahLst/>
              <a:cxnLst/>
              <a:rect r="r" b="b" t="t" l="l"/>
              <a:pathLst>
                <a:path h="633984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10" r="0" b="-197310"/>
              </a:stretch>
            </a:blipFill>
          </p:spPr>
          <p:txBody>
            <a:bodyPr/>
            <a:p/>
          </p:txBody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8046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CONFUSION MATRIX + PR CURVE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655047" y="4961639"/>
            <a:ext cx="6060443" cy="4048763"/>
            <a:chOff x="0" y="0"/>
            <a:chExt cx="8080591" cy="539835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80467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/>
            <a:p/>
          </p:txBody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080629" cy="5433187"/>
            </a:xfrm>
            <a:custGeom>
              <a:avLst/>
              <a:gdLst/>
              <a:ahLst/>
              <a:cxnLst/>
              <a:rect r="r" b="b" t="t" l="l"/>
              <a:pathLst>
                <a:path h="5433187" w="8080629">
                  <a:moveTo>
                    <a:pt x="254000" y="0"/>
                  </a:moveTo>
                  <a:lnTo>
                    <a:pt x="355600" y="0"/>
                  </a:lnTo>
                  <a:lnTo>
                    <a:pt x="355600" y="33909"/>
                  </a:lnTo>
                  <a:lnTo>
                    <a:pt x="254000" y="33909"/>
                  </a:lnTo>
                  <a:close/>
                  <a:moveTo>
                    <a:pt x="491109" y="0"/>
                  </a:moveTo>
                  <a:lnTo>
                    <a:pt x="592709" y="0"/>
                  </a:lnTo>
                  <a:lnTo>
                    <a:pt x="592709" y="33909"/>
                  </a:lnTo>
                  <a:lnTo>
                    <a:pt x="491109" y="33909"/>
                  </a:lnTo>
                  <a:close/>
                  <a:moveTo>
                    <a:pt x="728091" y="0"/>
                  </a:moveTo>
                  <a:lnTo>
                    <a:pt x="829691" y="0"/>
                  </a:lnTo>
                  <a:lnTo>
                    <a:pt x="829691" y="33909"/>
                  </a:lnTo>
                  <a:lnTo>
                    <a:pt x="728091" y="33909"/>
                  </a:lnTo>
                  <a:close/>
                  <a:moveTo>
                    <a:pt x="965200" y="0"/>
                  </a:moveTo>
                  <a:lnTo>
                    <a:pt x="1066800" y="0"/>
                  </a:lnTo>
                  <a:lnTo>
                    <a:pt x="1066800" y="33909"/>
                  </a:lnTo>
                  <a:lnTo>
                    <a:pt x="965200" y="33909"/>
                  </a:lnTo>
                  <a:close/>
                  <a:moveTo>
                    <a:pt x="1202309" y="0"/>
                  </a:moveTo>
                  <a:lnTo>
                    <a:pt x="1303909" y="0"/>
                  </a:lnTo>
                  <a:lnTo>
                    <a:pt x="1303909" y="33909"/>
                  </a:lnTo>
                  <a:lnTo>
                    <a:pt x="1202309" y="33909"/>
                  </a:lnTo>
                  <a:close/>
                  <a:moveTo>
                    <a:pt x="1439418" y="33909"/>
                  </a:moveTo>
                  <a:lnTo>
                    <a:pt x="1541018" y="33909"/>
                  </a:lnTo>
                  <a:lnTo>
                    <a:pt x="1439418" y="33909"/>
                  </a:lnTo>
                  <a:close/>
                  <a:moveTo>
                    <a:pt x="1676400" y="0"/>
                  </a:moveTo>
                  <a:lnTo>
                    <a:pt x="1778000" y="0"/>
                  </a:lnTo>
                  <a:lnTo>
                    <a:pt x="1778000" y="33909"/>
                  </a:lnTo>
                  <a:lnTo>
                    <a:pt x="1676400" y="33909"/>
                  </a:lnTo>
                  <a:close/>
                  <a:moveTo>
                    <a:pt x="1913509" y="33909"/>
                  </a:moveTo>
                  <a:lnTo>
                    <a:pt x="2015109" y="33909"/>
                  </a:lnTo>
                  <a:lnTo>
                    <a:pt x="1913509" y="33909"/>
                  </a:lnTo>
                  <a:close/>
                  <a:moveTo>
                    <a:pt x="2150618" y="33909"/>
                  </a:moveTo>
                  <a:lnTo>
                    <a:pt x="2252218" y="33909"/>
                  </a:lnTo>
                  <a:lnTo>
                    <a:pt x="2150618" y="33909"/>
                  </a:lnTo>
                  <a:close/>
                  <a:moveTo>
                    <a:pt x="2387600" y="0"/>
                  </a:moveTo>
                  <a:lnTo>
                    <a:pt x="2489200" y="0"/>
                  </a:lnTo>
                  <a:lnTo>
                    <a:pt x="2489200" y="33909"/>
                  </a:lnTo>
                  <a:lnTo>
                    <a:pt x="2387600" y="33909"/>
                  </a:lnTo>
                  <a:close/>
                  <a:moveTo>
                    <a:pt x="2624709" y="33909"/>
                  </a:moveTo>
                  <a:lnTo>
                    <a:pt x="2726309" y="33909"/>
                  </a:lnTo>
                  <a:lnTo>
                    <a:pt x="2624709" y="33909"/>
                  </a:lnTo>
                  <a:close/>
                  <a:moveTo>
                    <a:pt x="2861818" y="33909"/>
                  </a:moveTo>
                  <a:lnTo>
                    <a:pt x="2963418" y="33909"/>
                  </a:lnTo>
                  <a:lnTo>
                    <a:pt x="2861818" y="33909"/>
                  </a:lnTo>
                  <a:close/>
                  <a:moveTo>
                    <a:pt x="3098800" y="0"/>
                  </a:moveTo>
                  <a:lnTo>
                    <a:pt x="3200400" y="0"/>
                  </a:lnTo>
                  <a:lnTo>
                    <a:pt x="3200400" y="33909"/>
                  </a:lnTo>
                  <a:lnTo>
                    <a:pt x="3098800" y="33909"/>
                  </a:lnTo>
                  <a:close/>
                  <a:moveTo>
                    <a:pt x="3335909" y="33909"/>
                  </a:moveTo>
                  <a:lnTo>
                    <a:pt x="3437509" y="33909"/>
                  </a:lnTo>
                  <a:lnTo>
                    <a:pt x="3335909" y="33909"/>
                  </a:lnTo>
                  <a:close/>
                  <a:moveTo>
                    <a:pt x="3573018" y="33909"/>
                  </a:moveTo>
                  <a:lnTo>
                    <a:pt x="3674618" y="33909"/>
                  </a:lnTo>
                  <a:lnTo>
                    <a:pt x="3573018" y="33909"/>
                  </a:lnTo>
                  <a:close/>
                  <a:moveTo>
                    <a:pt x="3810000" y="0"/>
                  </a:moveTo>
                  <a:lnTo>
                    <a:pt x="3911600" y="0"/>
                  </a:lnTo>
                  <a:lnTo>
                    <a:pt x="3911600" y="33909"/>
                  </a:lnTo>
                  <a:lnTo>
                    <a:pt x="3810000" y="33909"/>
                  </a:lnTo>
                  <a:close/>
                  <a:moveTo>
                    <a:pt x="4047109" y="33909"/>
                  </a:moveTo>
                  <a:lnTo>
                    <a:pt x="4148709" y="33909"/>
                  </a:lnTo>
                  <a:lnTo>
                    <a:pt x="4047109" y="33909"/>
                  </a:lnTo>
                  <a:close/>
                  <a:moveTo>
                    <a:pt x="4284218" y="33909"/>
                  </a:moveTo>
                  <a:lnTo>
                    <a:pt x="4385818" y="33909"/>
                  </a:lnTo>
                  <a:lnTo>
                    <a:pt x="4284218" y="33909"/>
                  </a:lnTo>
                  <a:close/>
                  <a:moveTo>
                    <a:pt x="4521200" y="0"/>
                  </a:moveTo>
                  <a:lnTo>
                    <a:pt x="4622800" y="0"/>
                  </a:lnTo>
                  <a:lnTo>
                    <a:pt x="4622800" y="33909"/>
                  </a:lnTo>
                  <a:lnTo>
                    <a:pt x="4521200" y="33909"/>
                  </a:lnTo>
                  <a:close/>
                  <a:moveTo>
                    <a:pt x="4758309" y="33909"/>
                  </a:moveTo>
                  <a:lnTo>
                    <a:pt x="4859909" y="33909"/>
                  </a:lnTo>
                  <a:lnTo>
                    <a:pt x="4758309" y="33909"/>
                  </a:lnTo>
                  <a:close/>
                  <a:moveTo>
                    <a:pt x="4995418" y="33909"/>
                  </a:moveTo>
                  <a:lnTo>
                    <a:pt x="5097018" y="33909"/>
                  </a:lnTo>
                  <a:lnTo>
                    <a:pt x="4995418" y="33909"/>
                  </a:lnTo>
                  <a:close/>
                  <a:moveTo>
                    <a:pt x="5232400" y="0"/>
                  </a:moveTo>
                  <a:lnTo>
                    <a:pt x="5334000" y="0"/>
                  </a:lnTo>
                  <a:lnTo>
                    <a:pt x="5334000" y="33909"/>
                  </a:lnTo>
                  <a:lnTo>
                    <a:pt x="5232400" y="33909"/>
                  </a:lnTo>
                  <a:close/>
                  <a:moveTo>
                    <a:pt x="5469509" y="33909"/>
                  </a:moveTo>
                  <a:lnTo>
                    <a:pt x="5571109" y="33909"/>
                  </a:lnTo>
                  <a:lnTo>
                    <a:pt x="5469509" y="33909"/>
                  </a:lnTo>
                  <a:close/>
                  <a:moveTo>
                    <a:pt x="5706618" y="33909"/>
                  </a:moveTo>
                  <a:lnTo>
                    <a:pt x="5808218" y="33909"/>
                  </a:lnTo>
                  <a:lnTo>
                    <a:pt x="5706618" y="33909"/>
                  </a:lnTo>
                  <a:close/>
                  <a:moveTo>
                    <a:pt x="5943600" y="0"/>
                  </a:moveTo>
                  <a:lnTo>
                    <a:pt x="6045200" y="0"/>
                  </a:lnTo>
                  <a:lnTo>
                    <a:pt x="6045200" y="33909"/>
                  </a:lnTo>
                  <a:lnTo>
                    <a:pt x="5943600" y="33909"/>
                  </a:lnTo>
                  <a:close/>
                  <a:moveTo>
                    <a:pt x="6180709" y="33909"/>
                  </a:moveTo>
                  <a:lnTo>
                    <a:pt x="6282309" y="33909"/>
                  </a:lnTo>
                  <a:lnTo>
                    <a:pt x="6180709" y="33909"/>
                  </a:lnTo>
                  <a:close/>
                  <a:moveTo>
                    <a:pt x="6417818" y="33909"/>
                  </a:moveTo>
                  <a:lnTo>
                    <a:pt x="6519418" y="33909"/>
                  </a:lnTo>
                  <a:lnTo>
                    <a:pt x="6417818" y="33909"/>
                  </a:lnTo>
                  <a:close/>
                  <a:moveTo>
                    <a:pt x="6654800" y="0"/>
                  </a:moveTo>
                  <a:lnTo>
                    <a:pt x="6756400" y="0"/>
                  </a:lnTo>
                  <a:lnTo>
                    <a:pt x="6756400" y="33909"/>
                  </a:lnTo>
                  <a:lnTo>
                    <a:pt x="6654800" y="33909"/>
                  </a:lnTo>
                  <a:close/>
                  <a:moveTo>
                    <a:pt x="6891909" y="33909"/>
                  </a:moveTo>
                  <a:lnTo>
                    <a:pt x="6993509" y="33909"/>
                  </a:lnTo>
                  <a:lnTo>
                    <a:pt x="6891909" y="33909"/>
                  </a:lnTo>
                  <a:close/>
                  <a:moveTo>
                    <a:pt x="7129018" y="33909"/>
                  </a:moveTo>
                  <a:lnTo>
                    <a:pt x="7230618" y="33909"/>
                  </a:lnTo>
                  <a:lnTo>
                    <a:pt x="7129018" y="33909"/>
                  </a:lnTo>
                  <a:close/>
                  <a:moveTo>
                    <a:pt x="7366000" y="0"/>
                  </a:moveTo>
                  <a:lnTo>
                    <a:pt x="7467600" y="0"/>
                  </a:lnTo>
                  <a:lnTo>
                    <a:pt x="7467600" y="33909"/>
                  </a:lnTo>
                  <a:lnTo>
                    <a:pt x="7366000" y="33909"/>
                  </a:lnTo>
                  <a:close/>
                  <a:moveTo>
                    <a:pt x="7603109" y="33909"/>
                  </a:moveTo>
                  <a:lnTo>
                    <a:pt x="7704709" y="33909"/>
                  </a:lnTo>
                  <a:lnTo>
                    <a:pt x="7603109" y="33909"/>
                  </a:lnTo>
                  <a:close/>
                  <a:moveTo>
                    <a:pt x="7840218" y="33909"/>
                  </a:moveTo>
                  <a:lnTo>
                    <a:pt x="7941818" y="33909"/>
                  </a:lnTo>
                  <a:lnTo>
                    <a:pt x="7840218" y="33909"/>
                  </a:lnTo>
                  <a:close/>
                  <a:moveTo>
                    <a:pt x="8080629" y="64389"/>
                  </a:moveTo>
                  <a:lnTo>
                    <a:pt x="8080629" y="165989"/>
                  </a:lnTo>
                  <a:lnTo>
                    <a:pt x="8046720" y="165989"/>
                  </a:lnTo>
                  <a:lnTo>
                    <a:pt x="8046720" y="64389"/>
                  </a:lnTo>
                  <a:close/>
                  <a:moveTo>
                    <a:pt x="8046720" y="301498"/>
                  </a:moveTo>
                  <a:lnTo>
                    <a:pt x="8046720" y="403098"/>
                  </a:lnTo>
                  <a:lnTo>
                    <a:pt x="8046720" y="301498"/>
                  </a:lnTo>
                  <a:close/>
                  <a:moveTo>
                    <a:pt x="8046720" y="538607"/>
                  </a:moveTo>
                  <a:lnTo>
                    <a:pt x="8046720" y="640207"/>
                  </a:lnTo>
                  <a:lnTo>
                    <a:pt x="8046720" y="538607"/>
                  </a:lnTo>
                  <a:close/>
                  <a:moveTo>
                    <a:pt x="8046720" y="775716"/>
                  </a:moveTo>
                  <a:lnTo>
                    <a:pt x="8046720" y="877316"/>
                  </a:lnTo>
                  <a:lnTo>
                    <a:pt x="8046720" y="775716"/>
                  </a:lnTo>
                  <a:close/>
                  <a:moveTo>
                    <a:pt x="8046720" y="1012825"/>
                  </a:moveTo>
                  <a:lnTo>
                    <a:pt x="8046720" y="1114425"/>
                  </a:lnTo>
                  <a:lnTo>
                    <a:pt x="8046720" y="1012825"/>
                  </a:lnTo>
                  <a:close/>
                  <a:moveTo>
                    <a:pt x="8046720" y="1249934"/>
                  </a:moveTo>
                  <a:lnTo>
                    <a:pt x="8046720" y="1351534"/>
                  </a:lnTo>
                  <a:lnTo>
                    <a:pt x="8046720" y="1249934"/>
                  </a:lnTo>
                  <a:close/>
                  <a:moveTo>
                    <a:pt x="8046720" y="1487043"/>
                  </a:moveTo>
                  <a:lnTo>
                    <a:pt x="8046720" y="1588643"/>
                  </a:lnTo>
                  <a:lnTo>
                    <a:pt x="8046720" y="1487043"/>
                  </a:lnTo>
                  <a:close/>
                  <a:moveTo>
                    <a:pt x="8046720" y="1724152"/>
                  </a:moveTo>
                  <a:lnTo>
                    <a:pt x="8046720" y="1825752"/>
                  </a:lnTo>
                  <a:lnTo>
                    <a:pt x="8046720" y="1724152"/>
                  </a:lnTo>
                  <a:close/>
                  <a:moveTo>
                    <a:pt x="8046720" y="1961261"/>
                  </a:moveTo>
                  <a:lnTo>
                    <a:pt x="8046720" y="2062861"/>
                  </a:lnTo>
                  <a:lnTo>
                    <a:pt x="8046720" y="1961261"/>
                  </a:lnTo>
                  <a:close/>
                  <a:moveTo>
                    <a:pt x="8046720" y="2198370"/>
                  </a:moveTo>
                  <a:lnTo>
                    <a:pt x="8046720" y="2299970"/>
                  </a:lnTo>
                  <a:lnTo>
                    <a:pt x="8046720" y="2198370"/>
                  </a:lnTo>
                  <a:close/>
                  <a:moveTo>
                    <a:pt x="8046720" y="2435479"/>
                  </a:moveTo>
                  <a:lnTo>
                    <a:pt x="8046720" y="2537079"/>
                  </a:lnTo>
                  <a:lnTo>
                    <a:pt x="8046720" y="2435479"/>
                  </a:lnTo>
                  <a:close/>
                  <a:moveTo>
                    <a:pt x="8046720" y="2672588"/>
                  </a:moveTo>
                  <a:lnTo>
                    <a:pt x="8046720" y="2774188"/>
                  </a:lnTo>
                  <a:lnTo>
                    <a:pt x="8046720" y="2672588"/>
                  </a:lnTo>
                  <a:close/>
                  <a:moveTo>
                    <a:pt x="8046720" y="2909697"/>
                  </a:moveTo>
                  <a:lnTo>
                    <a:pt x="8046720" y="3011297"/>
                  </a:lnTo>
                  <a:lnTo>
                    <a:pt x="8046720" y="2909697"/>
                  </a:lnTo>
                  <a:close/>
                  <a:moveTo>
                    <a:pt x="8046720" y="3146806"/>
                  </a:moveTo>
                  <a:lnTo>
                    <a:pt x="8046720" y="3248406"/>
                  </a:lnTo>
                  <a:lnTo>
                    <a:pt x="8046720" y="3146806"/>
                  </a:lnTo>
                  <a:close/>
                  <a:moveTo>
                    <a:pt x="8046720" y="3383915"/>
                  </a:moveTo>
                  <a:lnTo>
                    <a:pt x="8046720" y="3485515"/>
                  </a:lnTo>
                  <a:lnTo>
                    <a:pt x="8046720" y="3383915"/>
                  </a:lnTo>
                  <a:close/>
                  <a:moveTo>
                    <a:pt x="8046720" y="3621024"/>
                  </a:moveTo>
                  <a:lnTo>
                    <a:pt x="8046720" y="3722624"/>
                  </a:lnTo>
                  <a:lnTo>
                    <a:pt x="8046720" y="3621024"/>
                  </a:lnTo>
                  <a:close/>
                  <a:moveTo>
                    <a:pt x="8046720" y="3858133"/>
                  </a:moveTo>
                  <a:lnTo>
                    <a:pt x="8046720" y="3959733"/>
                  </a:lnTo>
                  <a:lnTo>
                    <a:pt x="8046720" y="3858133"/>
                  </a:lnTo>
                  <a:close/>
                  <a:moveTo>
                    <a:pt x="8046720" y="4095242"/>
                  </a:moveTo>
                  <a:lnTo>
                    <a:pt x="8046720" y="4196842"/>
                  </a:lnTo>
                  <a:lnTo>
                    <a:pt x="8046720" y="4095242"/>
                  </a:lnTo>
                  <a:close/>
                  <a:moveTo>
                    <a:pt x="8046720" y="4332351"/>
                  </a:moveTo>
                  <a:lnTo>
                    <a:pt x="8046720" y="4433951"/>
                  </a:lnTo>
                  <a:lnTo>
                    <a:pt x="8046720" y="4332351"/>
                  </a:lnTo>
                  <a:close/>
                  <a:moveTo>
                    <a:pt x="8046720" y="4569460"/>
                  </a:moveTo>
                  <a:lnTo>
                    <a:pt x="8046720" y="4671060"/>
                  </a:lnTo>
                  <a:lnTo>
                    <a:pt x="8046720" y="4569460"/>
                  </a:lnTo>
                  <a:close/>
                  <a:moveTo>
                    <a:pt x="8046720" y="4806569"/>
                  </a:moveTo>
                  <a:lnTo>
                    <a:pt x="8046720" y="4908169"/>
                  </a:lnTo>
                  <a:lnTo>
                    <a:pt x="8046720" y="4806569"/>
                  </a:lnTo>
                  <a:close/>
                  <a:moveTo>
                    <a:pt x="8046720" y="5043678"/>
                  </a:moveTo>
                  <a:lnTo>
                    <a:pt x="8046720" y="5145278"/>
                  </a:lnTo>
                  <a:lnTo>
                    <a:pt x="8046720" y="5043678"/>
                  </a:lnTo>
                  <a:close/>
                  <a:moveTo>
                    <a:pt x="8046720" y="5280787"/>
                  </a:moveTo>
                  <a:lnTo>
                    <a:pt x="8046720" y="5382387"/>
                  </a:lnTo>
                  <a:lnTo>
                    <a:pt x="8046720" y="5280787"/>
                  </a:lnTo>
                  <a:close/>
                  <a:moveTo>
                    <a:pt x="7928228" y="5433187"/>
                  </a:moveTo>
                  <a:lnTo>
                    <a:pt x="7826628" y="5433187"/>
                  </a:lnTo>
                  <a:lnTo>
                    <a:pt x="7826628" y="5364480"/>
                  </a:lnTo>
                  <a:lnTo>
                    <a:pt x="7928228" y="5364480"/>
                  </a:lnTo>
                  <a:close/>
                  <a:moveTo>
                    <a:pt x="7691120" y="5364480"/>
                  </a:moveTo>
                  <a:lnTo>
                    <a:pt x="7589520" y="5364480"/>
                  </a:lnTo>
                  <a:lnTo>
                    <a:pt x="7691120" y="5364480"/>
                  </a:lnTo>
                  <a:close/>
                  <a:moveTo>
                    <a:pt x="7454011" y="5364480"/>
                  </a:moveTo>
                  <a:lnTo>
                    <a:pt x="7352411" y="5364480"/>
                  </a:lnTo>
                  <a:lnTo>
                    <a:pt x="7454011" y="5364480"/>
                  </a:lnTo>
                  <a:close/>
                  <a:moveTo>
                    <a:pt x="7216901" y="5364480"/>
                  </a:moveTo>
                  <a:lnTo>
                    <a:pt x="7115301" y="5364480"/>
                  </a:lnTo>
                  <a:lnTo>
                    <a:pt x="7216901" y="5364480"/>
                  </a:lnTo>
                  <a:close/>
                  <a:moveTo>
                    <a:pt x="6979793" y="5364480"/>
                  </a:moveTo>
                  <a:lnTo>
                    <a:pt x="6878193" y="5364480"/>
                  </a:lnTo>
                  <a:lnTo>
                    <a:pt x="6979793" y="5364480"/>
                  </a:lnTo>
                  <a:close/>
                  <a:moveTo>
                    <a:pt x="6742684" y="5364480"/>
                  </a:moveTo>
                  <a:lnTo>
                    <a:pt x="6641084" y="5364480"/>
                  </a:lnTo>
                  <a:lnTo>
                    <a:pt x="6742684" y="5364480"/>
                  </a:lnTo>
                  <a:close/>
                  <a:moveTo>
                    <a:pt x="6505575" y="5364480"/>
                  </a:moveTo>
                  <a:lnTo>
                    <a:pt x="6403975" y="5364480"/>
                  </a:lnTo>
                  <a:lnTo>
                    <a:pt x="6505575" y="5364480"/>
                  </a:lnTo>
                  <a:close/>
                  <a:moveTo>
                    <a:pt x="6268466" y="5364480"/>
                  </a:moveTo>
                  <a:lnTo>
                    <a:pt x="6166866" y="5364480"/>
                  </a:lnTo>
                  <a:lnTo>
                    <a:pt x="6268466" y="5364480"/>
                  </a:lnTo>
                  <a:close/>
                  <a:moveTo>
                    <a:pt x="6031357" y="5364480"/>
                  </a:moveTo>
                  <a:lnTo>
                    <a:pt x="5929757" y="5364480"/>
                  </a:lnTo>
                  <a:lnTo>
                    <a:pt x="6031357" y="5364480"/>
                  </a:lnTo>
                  <a:close/>
                  <a:moveTo>
                    <a:pt x="5794248" y="5364480"/>
                  </a:moveTo>
                  <a:lnTo>
                    <a:pt x="5692648" y="5364480"/>
                  </a:lnTo>
                  <a:lnTo>
                    <a:pt x="5794248" y="5364480"/>
                  </a:lnTo>
                  <a:close/>
                  <a:moveTo>
                    <a:pt x="5557139" y="5364480"/>
                  </a:moveTo>
                  <a:lnTo>
                    <a:pt x="5455539" y="5364480"/>
                  </a:lnTo>
                  <a:lnTo>
                    <a:pt x="5557139" y="5364480"/>
                  </a:lnTo>
                  <a:close/>
                  <a:moveTo>
                    <a:pt x="5320030" y="5364480"/>
                  </a:moveTo>
                  <a:lnTo>
                    <a:pt x="5218430" y="5364480"/>
                  </a:lnTo>
                  <a:lnTo>
                    <a:pt x="5320030" y="5364480"/>
                  </a:lnTo>
                  <a:close/>
                  <a:moveTo>
                    <a:pt x="5082921" y="5364480"/>
                  </a:moveTo>
                  <a:lnTo>
                    <a:pt x="4981321" y="5364480"/>
                  </a:lnTo>
                  <a:lnTo>
                    <a:pt x="5082921" y="5364480"/>
                  </a:lnTo>
                  <a:close/>
                  <a:moveTo>
                    <a:pt x="4845812" y="5364480"/>
                  </a:moveTo>
                  <a:lnTo>
                    <a:pt x="4744212" y="5364480"/>
                  </a:lnTo>
                  <a:lnTo>
                    <a:pt x="4845812" y="5364480"/>
                  </a:lnTo>
                  <a:close/>
                  <a:moveTo>
                    <a:pt x="4608703" y="5364480"/>
                  </a:moveTo>
                  <a:lnTo>
                    <a:pt x="4507103" y="5364480"/>
                  </a:lnTo>
                  <a:lnTo>
                    <a:pt x="4608703" y="5364480"/>
                  </a:lnTo>
                  <a:close/>
                  <a:moveTo>
                    <a:pt x="4371594" y="5364480"/>
                  </a:moveTo>
                  <a:lnTo>
                    <a:pt x="4269994" y="5364480"/>
                  </a:lnTo>
                  <a:lnTo>
                    <a:pt x="4371594" y="5364480"/>
                  </a:lnTo>
                  <a:close/>
                  <a:moveTo>
                    <a:pt x="4134485" y="5364480"/>
                  </a:moveTo>
                  <a:lnTo>
                    <a:pt x="4032885" y="5364480"/>
                  </a:lnTo>
                  <a:lnTo>
                    <a:pt x="4134485" y="5364480"/>
                  </a:lnTo>
                  <a:close/>
                  <a:moveTo>
                    <a:pt x="3897376" y="5364480"/>
                  </a:moveTo>
                  <a:lnTo>
                    <a:pt x="3795776" y="5364480"/>
                  </a:lnTo>
                  <a:lnTo>
                    <a:pt x="3897376" y="5364480"/>
                  </a:lnTo>
                  <a:close/>
                  <a:moveTo>
                    <a:pt x="3660267" y="5364480"/>
                  </a:moveTo>
                  <a:lnTo>
                    <a:pt x="3558667" y="5364480"/>
                  </a:lnTo>
                  <a:lnTo>
                    <a:pt x="3660267" y="5364480"/>
                  </a:lnTo>
                  <a:close/>
                  <a:moveTo>
                    <a:pt x="3423158" y="5364480"/>
                  </a:moveTo>
                  <a:lnTo>
                    <a:pt x="3321558" y="5364480"/>
                  </a:lnTo>
                  <a:lnTo>
                    <a:pt x="3423158" y="5364480"/>
                  </a:lnTo>
                  <a:close/>
                  <a:moveTo>
                    <a:pt x="3186049" y="5364480"/>
                  </a:moveTo>
                  <a:lnTo>
                    <a:pt x="3084449" y="5364480"/>
                  </a:lnTo>
                  <a:lnTo>
                    <a:pt x="3186049" y="5364480"/>
                  </a:lnTo>
                  <a:close/>
                  <a:moveTo>
                    <a:pt x="2948940" y="5364480"/>
                  </a:moveTo>
                  <a:lnTo>
                    <a:pt x="2847340" y="5364480"/>
                  </a:lnTo>
                  <a:lnTo>
                    <a:pt x="2948940" y="5364480"/>
                  </a:lnTo>
                  <a:close/>
                  <a:moveTo>
                    <a:pt x="2711831" y="5364480"/>
                  </a:moveTo>
                  <a:lnTo>
                    <a:pt x="2610231" y="5364480"/>
                  </a:lnTo>
                  <a:lnTo>
                    <a:pt x="2711831" y="5364480"/>
                  </a:lnTo>
                  <a:close/>
                  <a:moveTo>
                    <a:pt x="2474722" y="5364480"/>
                  </a:moveTo>
                  <a:lnTo>
                    <a:pt x="2373122" y="5364480"/>
                  </a:lnTo>
                  <a:lnTo>
                    <a:pt x="2474722" y="5364480"/>
                  </a:lnTo>
                  <a:close/>
                  <a:moveTo>
                    <a:pt x="2237613" y="5364480"/>
                  </a:moveTo>
                  <a:lnTo>
                    <a:pt x="2136013" y="5364480"/>
                  </a:lnTo>
                  <a:lnTo>
                    <a:pt x="2237613" y="5364480"/>
                  </a:lnTo>
                  <a:close/>
                  <a:moveTo>
                    <a:pt x="2000504" y="5364480"/>
                  </a:moveTo>
                  <a:lnTo>
                    <a:pt x="1898904" y="5364480"/>
                  </a:lnTo>
                  <a:lnTo>
                    <a:pt x="2000504" y="5364480"/>
                  </a:lnTo>
                  <a:close/>
                  <a:moveTo>
                    <a:pt x="1763395" y="5364480"/>
                  </a:moveTo>
                  <a:lnTo>
                    <a:pt x="1661795" y="5364480"/>
                  </a:lnTo>
                  <a:lnTo>
                    <a:pt x="1763395" y="5364480"/>
                  </a:lnTo>
                  <a:close/>
                  <a:moveTo>
                    <a:pt x="1526286" y="5364480"/>
                  </a:moveTo>
                  <a:lnTo>
                    <a:pt x="1424686" y="5364480"/>
                  </a:lnTo>
                  <a:lnTo>
                    <a:pt x="1526286" y="5364480"/>
                  </a:lnTo>
                  <a:close/>
                  <a:moveTo>
                    <a:pt x="1289177" y="5364480"/>
                  </a:moveTo>
                  <a:lnTo>
                    <a:pt x="1187577" y="5364480"/>
                  </a:lnTo>
                  <a:lnTo>
                    <a:pt x="1289177" y="5364480"/>
                  </a:lnTo>
                  <a:close/>
                  <a:moveTo>
                    <a:pt x="1052068" y="5364480"/>
                  </a:moveTo>
                  <a:lnTo>
                    <a:pt x="950468" y="5364480"/>
                  </a:lnTo>
                  <a:lnTo>
                    <a:pt x="1052068" y="5364480"/>
                  </a:lnTo>
                  <a:close/>
                  <a:moveTo>
                    <a:pt x="814959" y="5364480"/>
                  </a:moveTo>
                  <a:lnTo>
                    <a:pt x="713359" y="5364480"/>
                  </a:lnTo>
                  <a:lnTo>
                    <a:pt x="814959" y="5364480"/>
                  </a:lnTo>
                  <a:close/>
                  <a:moveTo>
                    <a:pt x="577850" y="5364480"/>
                  </a:moveTo>
                  <a:lnTo>
                    <a:pt x="476250" y="5364480"/>
                  </a:lnTo>
                  <a:lnTo>
                    <a:pt x="577850" y="5364480"/>
                  </a:lnTo>
                  <a:close/>
                  <a:moveTo>
                    <a:pt x="340741" y="5364480"/>
                  </a:moveTo>
                  <a:lnTo>
                    <a:pt x="239141" y="5364480"/>
                  </a:lnTo>
                  <a:lnTo>
                    <a:pt x="340741" y="5364480"/>
                  </a:lnTo>
                  <a:close/>
                  <a:moveTo>
                    <a:pt x="103632" y="5364480"/>
                  </a:moveTo>
                  <a:lnTo>
                    <a:pt x="2032" y="5364480"/>
                  </a:lnTo>
                  <a:lnTo>
                    <a:pt x="103632" y="5364480"/>
                  </a:lnTo>
                  <a:close/>
                  <a:moveTo>
                    <a:pt x="0" y="5266309"/>
                  </a:moveTo>
                  <a:lnTo>
                    <a:pt x="0" y="5164709"/>
                  </a:lnTo>
                  <a:lnTo>
                    <a:pt x="33909" y="5164709"/>
                  </a:lnTo>
                  <a:lnTo>
                    <a:pt x="33909" y="5266309"/>
                  </a:lnTo>
                  <a:close/>
                  <a:moveTo>
                    <a:pt x="0" y="5029200"/>
                  </a:moveTo>
                  <a:lnTo>
                    <a:pt x="0" y="4927600"/>
                  </a:lnTo>
                  <a:lnTo>
                    <a:pt x="33909" y="4927600"/>
                  </a:lnTo>
                  <a:lnTo>
                    <a:pt x="33909" y="5029200"/>
                  </a:lnTo>
                  <a:close/>
                  <a:moveTo>
                    <a:pt x="33909" y="4792091"/>
                  </a:moveTo>
                  <a:lnTo>
                    <a:pt x="33909" y="4690491"/>
                  </a:lnTo>
                  <a:lnTo>
                    <a:pt x="33909" y="4792091"/>
                  </a:lnTo>
                  <a:close/>
                  <a:moveTo>
                    <a:pt x="33909" y="4554982"/>
                  </a:moveTo>
                  <a:lnTo>
                    <a:pt x="33909" y="4453382"/>
                  </a:lnTo>
                  <a:lnTo>
                    <a:pt x="33909" y="4554982"/>
                  </a:lnTo>
                  <a:close/>
                  <a:moveTo>
                    <a:pt x="0" y="4318000"/>
                  </a:moveTo>
                  <a:lnTo>
                    <a:pt x="0" y="4216400"/>
                  </a:lnTo>
                  <a:lnTo>
                    <a:pt x="33909" y="4216400"/>
                  </a:lnTo>
                  <a:lnTo>
                    <a:pt x="33909" y="4318000"/>
                  </a:lnTo>
                  <a:close/>
                  <a:moveTo>
                    <a:pt x="33909" y="4080891"/>
                  </a:moveTo>
                  <a:lnTo>
                    <a:pt x="33909" y="3979291"/>
                  </a:lnTo>
                  <a:lnTo>
                    <a:pt x="33909" y="4080891"/>
                  </a:lnTo>
                  <a:close/>
                  <a:moveTo>
                    <a:pt x="33909" y="3843782"/>
                  </a:moveTo>
                  <a:lnTo>
                    <a:pt x="33909" y="3742182"/>
                  </a:lnTo>
                  <a:lnTo>
                    <a:pt x="33909" y="3843782"/>
                  </a:lnTo>
                  <a:close/>
                  <a:moveTo>
                    <a:pt x="0" y="3606800"/>
                  </a:moveTo>
                  <a:lnTo>
                    <a:pt x="0" y="3505200"/>
                  </a:lnTo>
                  <a:lnTo>
                    <a:pt x="33909" y="3505200"/>
                  </a:lnTo>
                  <a:lnTo>
                    <a:pt x="33909" y="3606800"/>
                  </a:lnTo>
                  <a:close/>
                  <a:moveTo>
                    <a:pt x="33909" y="3369691"/>
                  </a:moveTo>
                  <a:lnTo>
                    <a:pt x="33909" y="3268091"/>
                  </a:lnTo>
                  <a:lnTo>
                    <a:pt x="33909" y="3369691"/>
                  </a:lnTo>
                  <a:close/>
                  <a:moveTo>
                    <a:pt x="33909" y="3132582"/>
                  </a:moveTo>
                  <a:lnTo>
                    <a:pt x="33909" y="3030982"/>
                  </a:lnTo>
                  <a:lnTo>
                    <a:pt x="33909" y="3132582"/>
                  </a:lnTo>
                  <a:close/>
                  <a:moveTo>
                    <a:pt x="0" y="2895600"/>
                  </a:moveTo>
                  <a:lnTo>
                    <a:pt x="0" y="2794000"/>
                  </a:lnTo>
                  <a:lnTo>
                    <a:pt x="33909" y="2794000"/>
                  </a:lnTo>
                  <a:lnTo>
                    <a:pt x="33909" y="2895600"/>
                  </a:lnTo>
                  <a:close/>
                  <a:moveTo>
                    <a:pt x="33909" y="2658491"/>
                  </a:moveTo>
                  <a:lnTo>
                    <a:pt x="33909" y="2556891"/>
                  </a:lnTo>
                  <a:lnTo>
                    <a:pt x="33909" y="2658491"/>
                  </a:lnTo>
                  <a:close/>
                  <a:moveTo>
                    <a:pt x="33909" y="2421382"/>
                  </a:moveTo>
                  <a:lnTo>
                    <a:pt x="33909" y="2319782"/>
                  </a:lnTo>
                  <a:lnTo>
                    <a:pt x="33909" y="2421382"/>
                  </a:lnTo>
                  <a:close/>
                  <a:moveTo>
                    <a:pt x="0" y="2184400"/>
                  </a:moveTo>
                  <a:lnTo>
                    <a:pt x="0" y="2082800"/>
                  </a:lnTo>
                  <a:lnTo>
                    <a:pt x="33909" y="2082800"/>
                  </a:lnTo>
                  <a:lnTo>
                    <a:pt x="33909" y="2184400"/>
                  </a:lnTo>
                  <a:close/>
                  <a:moveTo>
                    <a:pt x="33909" y="1947291"/>
                  </a:moveTo>
                  <a:lnTo>
                    <a:pt x="33909" y="1845691"/>
                  </a:lnTo>
                  <a:lnTo>
                    <a:pt x="33909" y="1947291"/>
                  </a:lnTo>
                  <a:close/>
                  <a:moveTo>
                    <a:pt x="33909" y="1710182"/>
                  </a:moveTo>
                  <a:lnTo>
                    <a:pt x="33909" y="1608582"/>
                  </a:lnTo>
                  <a:lnTo>
                    <a:pt x="33909" y="1710182"/>
                  </a:lnTo>
                  <a:close/>
                  <a:moveTo>
                    <a:pt x="0" y="1473200"/>
                  </a:moveTo>
                  <a:lnTo>
                    <a:pt x="0" y="1371600"/>
                  </a:lnTo>
                  <a:lnTo>
                    <a:pt x="33909" y="1371600"/>
                  </a:lnTo>
                  <a:lnTo>
                    <a:pt x="33909" y="1473200"/>
                  </a:lnTo>
                  <a:close/>
                  <a:moveTo>
                    <a:pt x="0" y="1236091"/>
                  </a:moveTo>
                  <a:lnTo>
                    <a:pt x="0" y="1134491"/>
                  </a:lnTo>
                  <a:lnTo>
                    <a:pt x="33909" y="1134491"/>
                  </a:lnTo>
                  <a:lnTo>
                    <a:pt x="33909" y="1236091"/>
                  </a:lnTo>
                  <a:close/>
                  <a:moveTo>
                    <a:pt x="0" y="999109"/>
                  </a:moveTo>
                  <a:lnTo>
                    <a:pt x="0" y="897509"/>
                  </a:lnTo>
                  <a:lnTo>
                    <a:pt x="33909" y="897509"/>
                  </a:lnTo>
                  <a:lnTo>
                    <a:pt x="33909" y="999109"/>
                  </a:lnTo>
                  <a:close/>
                  <a:moveTo>
                    <a:pt x="0" y="762000"/>
                  </a:moveTo>
                  <a:lnTo>
                    <a:pt x="0" y="660400"/>
                  </a:lnTo>
                  <a:lnTo>
                    <a:pt x="33909" y="660400"/>
                  </a:lnTo>
                  <a:lnTo>
                    <a:pt x="33909" y="762000"/>
                  </a:lnTo>
                  <a:close/>
                  <a:moveTo>
                    <a:pt x="0" y="524891"/>
                  </a:moveTo>
                  <a:lnTo>
                    <a:pt x="0" y="423291"/>
                  </a:lnTo>
                  <a:lnTo>
                    <a:pt x="33909" y="423291"/>
                  </a:lnTo>
                  <a:lnTo>
                    <a:pt x="33909" y="524891"/>
                  </a:lnTo>
                  <a:close/>
                  <a:moveTo>
                    <a:pt x="0" y="287909"/>
                  </a:moveTo>
                  <a:lnTo>
                    <a:pt x="0" y="186309"/>
                  </a:lnTo>
                  <a:lnTo>
                    <a:pt x="33909" y="186309"/>
                  </a:lnTo>
                  <a:lnTo>
                    <a:pt x="33909" y="287909"/>
                  </a:lnTo>
                  <a:close/>
                  <a:moveTo>
                    <a:pt x="0" y="50800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lnTo>
                    <a:pt x="118491" y="0"/>
                  </a:lnTo>
                  <a:lnTo>
                    <a:pt x="118491" y="33909"/>
                  </a:lnTo>
                  <a:lnTo>
                    <a:pt x="16891" y="33909"/>
                  </a:lnTo>
                  <a:lnTo>
                    <a:pt x="16891" y="16891"/>
                  </a:lnTo>
                  <a:lnTo>
                    <a:pt x="33909" y="16891"/>
                  </a:lnTo>
                  <a:lnTo>
                    <a:pt x="33909" y="508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667744" y="4974336"/>
            <a:ext cx="6035040" cy="4023360"/>
            <a:chOff x="0" y="0"/>
            <a:chExt cx="8046720" cy="53644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0467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  <p:txBody>
            <a:bodyPr/>
            <a:p/>
          </p:txBody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804672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5501943" y="135098"/>
            <a:ext cx="2433003" cy="1028252"/>
            <a:chOff x="0" y="0"/>
            <a:chExt cx="3244004" cy="1371003"/>
          </a:xfrm>
        </p:grpSpPr>
        <p:grpSp>
          <p:nvGrpSpPr>
            <p:cNvPr name="Group 104" id="104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106" id="106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353063" y="62112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pic>
        <p:nvPicPr>
          <p:cNvPr id="109" name="Picture 108" descr="results_pa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7744" y="5300000"/>
            <a:ext cx="6035040" cy="32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468885" y="234696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Faced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535400"/>
            <a:ext cx="17190720" cy="475488"/>
            <a:chOff x="0" y="0"/>
            <a:chExt cx="229209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Obstacles encountered and how you addressed them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8640" y="2708434"/>
            <a:ext cx="17228820" cy="6343021"/>
            <a:chOff x="0" y="0"/>
            <a:chExt cx="22971760" cy="845736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16929" y="0"/>
              <a:ext cx="7349071" cy="4057231"/>
              <a:chOff x="0" y="0"/>
              <a:chExt cx="7349071" cy="405723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6891"/>
                <a:ext cx="7315200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348982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7348982">
                    <a:moveTo>
                      <a:pt x="16891" y="0"/>
                    </a:moveTo>
                    <a:lnTo>
                      <a:pt x="7332091" y="0"/>
                    </a:lnTo>
                    <a:cubicBezTo>
                      <a:pt x="7341489" y="0"/>
                      <a:pt x="7348982" y="7620"/>
                      <a:pt x="7348982" y="16891"/>
                    </a:cubicBezTo>
                    <a:lnTo>
                      <a:pt x="7348982" y="4040251"/>
                    </a:lnTo>
                    <a:cubicBezTo>
                      <a:pt x="7348982" y="4049649"/>
                      <a:pt x="7341362" y="4057142"/>
                      <a:pt x="7332091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7332091" y="4023360"/>
                    </a:lnTo>
                    <a:lnTo>
                      <a:pt x="7332091" y="4040251"/>
                    </a:lnTo>
                    <a:lnTo>
                      <a:pt x="7315200" y="4040251"/>
                    </a:lnTo>
                    <a:lnTo>
                      <a:pt x="7315200" y="16891"/>
                    </a:lnTo>
                    <a:lnTo>
                      <a:pt x="7332091" y="16891"/>
                    </a:lnTo>
                    <a:lnTo>
                      <a:pt x="7332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819809" y="0"/>
              <a:ext cx="7349071" cy="4057231"/>
              <a:chOff x="0" y="0"/>
              <a:chExt cx="7349071" cy="405723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6891"/>
                <a:ext cx="7315200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348982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7348982">
                    <a:moveTo>
                      <a:pt x="16891" y="0"/>
                    </a:moveTo>
                    <a:lnTo>
                      <a:pt x="7332091" y="0"/>
                    </a:lnTo>
                    <a:cubicBezTo>
                      <a:pt x="7341489" y="0"/>
                      <a:pt x="7348982" y="7620"/>
                      <a:pt x="7348982" y="16891"/>
                    </a:cubicBezTo>
                    <a:lnTo>
                      <a:pt x="7348982" y="4040251"/>
                    </a:lnTo>
                    <a:cubicBezTo>
                      <a:pt x="7348982" y="4049649"/>
                      <a:pt x="7341362" y="4057142"/>
                      <a:pt x="7332091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7332091" y="4023360"/>
                    </a:lnTo>
                    <a:lnTo>
                      <a:pt x="7332091" y="4040251"/>
                    </a:lnTo>
                    <a:lnTo>
                      <a:pt x="7315200" y="4040251"/>
                    </a:lnTo>
                    <a:lnTo>
                      <a:pt x="7315200" y="16891"/>
                    </a:lnTo>
                    <a:lnTo>
                      <a:pt x="7332091" y="16891"/>
                    </a:lnTo>
                    <a:lnTo>
                      <a:pt x="7332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5622689" y="0"/>
              <a:ext cx="7349071" cy="4057231"/>
              <a:chOff x="0" y="0"/>
              <a:chExt cx="7349071" cy="405723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7315200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7348982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7348982">
                    <a:moveTo>
                      <a:pt x="16891" y="0"/>
                    </a:moveTo>
                    <a:lnTo>
                      <a:pt x="7332091" y="0"/>
                    </a:lnTo>
                    <a:cubicBezTo>
                      <a:pt x="7341489" y="0"/>
                      <a:pt x="7348982" y="7620"/>
                      <a:pt x="7348982" y="16891"/>
                    </a:cubicBezTo>
                    <a:lnTo>
                      <a:pt x="7348982" y="4040251"/>
                    </a:lnTo>
                    <a:cubicBezTo>
                      <a:pt x="7348982" y="4049649"/>
                      <a:pt x="7341362" y="4057142"/>
                      <a:pt x="7332091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7332091" y="4023360"/>
                    </a:lnTo>
                    <a:lnTo>
                      <a:pt x="7332091" y="4040251"/>
                    </a:lnTo>
                    <a:lnTo>
                      <a:pt x="7315200" y="4040251"/>
                    </a:lnTo>
                    <a:lnTo>
                      <a:pt x="7315200" y="16891"/>
                    </a:lnTo>
                    <a:lnTo>
                      <a:pt x="7332091" y="16891"/>
                    </a:lnTo>
                    <a:lnTo>
                      <a:pt x="7332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6929" y="27521"/>
              <a:ext cx="228943" cy="4029710"/>
              <a:chOff x="0" y="0"/>
              <a:chExt cx="228943" cy="40297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6891" y="16776"/>
                <a:ext cx="195072" cy="3996069"/>
              </a:xfrm>
              <a:custGeom>
                <a:avLst/>
                <a:gdLst/>
                <a:ahLst/>
                <a:cxnLst/>
                <a:rect r="r" b="b" t="t" l="l"/>
                <a:pathLst>
                  <a:path h="3996069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3996069"/>
                    </a:lnTo>
                    <a:lnTo>
                      <a:pt x="0" y="399606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8854" cy="4029621"/>
              </a:xfrm>
              <a:custGeom>
                <a:avLst/>
                <a:gdLst/>
                <a:ahLst/>
                <a:cxnLst/>
                <a:rect r="r" b="b" t="t" l="l"/>
                <a:pathLst>
                  <a:path h="4029621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7568"/>
                      <a:pt x="228854" y="16776"/>
                    </a:cubicBezTo>
                    <a:lnTo>
                      <a:pt x="228854" y="4012845"/>
                    </a:lnTo>
                    <a:cubicBezTo>
                      <a:pt x="228854" y="4022179"/>
                      <a:pt x="221234" y="4029621"/>
                      <a:pt x="211963" y="4029621"/>
                    </a:cubicBezTo>
                    <a:lnTo>
                      <a:pt x="16891" y="4029621"/>
                    </a:lnTo>
                    <a:cubicBezTo>
                      <a:pt x="7493" y="4029621"/>
                      <a:pt x="0" y="4022053"/>
                      <a:pt x="0" y="4012845"/>
                    </a:cubicBezTo>
                    <a:lnTo>
                      <a:pt x="0" y="16776"/>
                    </a:lnTo>
                    <a:cubicBezTo>
                      <a:pt x="0" y="7568"/>
                      <a:pt x="7620" y="0"/>
                      <a:pt x="16891" y="0"/>
                    </a:cubicBezTo>
                    <a:moveTo>
                      <a:pt x="16891" y="33679"/>
                    </a:moveTo>
                    <a:lnTo>
                      <a:pt x="16891" y="16776"/>
                    </a:lnTo>
                    <a:lnTo>
                      <a:pt x="33909" y="16776"/>
                    </a:lnTo>
                    <a:lnTo>
                      <a:pt x="33909" y="4012845"/>
                    </a:lnTo>
                    <a:lnTo>
                      <a:pt x="16891" y="4012845"/>
                    </a:lnTo>
                    <a:lnTo>
                      <a:pt x="16891" y="3996069"/>
                    </a:lnTo>
                    <a:lnTo>
                      <a:pt x="211963" y="3996069"/>
                    </a:lnTo>
                    <a:lnTo>
                      <a:pt x="211963" y="4012845"/>
                    </a:lnTo>
                    <a:lnTo>
                      <a:pt x="195072" y="4012845"/>
                    </a:lnTo>
                    <a:lnTo>
                      <a:pt x="195072" y="16776"/>
                    </a:lnTo>
                    <a:lnTo>
                      <a:pt x="211963" y="16776"/>
                    </a:lnTo>
                    <a:lnTo>
                      <a:pt x="211963" y="33679"/>
                    </a:lnTo>
                    <a:lnTo>
                      <a:pt x="16891" y="3367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72770" y="286521"/>
              <a:ext cx="6681216" cy="871870"/>
              <a:chOff x="0" y="0"/>
              <a:chExt cx="6681216" cy="8718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681216" cy="871870"/>
              </a:xfrm>
              <a:custGeom>
                <a:avLst/>
                <a:gdLst/>
                <a:ahLst/>
                <a:cxnLst/>
                <a:rect r="r" b="b" t="t" l="l"/>
                <a:pathLst>
                  <a:path h="871870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871870"/>
                    </a:lnTo>
                    <a:lnTo>
                      <a:pt x="0" y="87187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974" r="0" b="-99657"/>
                </a:stretch>
              </a:blipFill>
            </p:spPr>
            <p:txBody>
              <a:bodyPr/>
              <a:p/>
            </p:txBody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6681216" cy="9099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0F17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📦  Data Quality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72770" y="1255265"/>
              <a:ext cx="6681216" cy="2494516"/>
              <a:chOff x="0" y="0"/>
              <a:chExt cx="6681216" cy="249451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6681216" cy="2494516"/>
              </a:xfrm>
              <a:custGeom>
                <a:avLst/>
                <a:gdLst/>
                <a:ahLst/>
                <a:cxnLst/>
                <a:rect r="r" b="b" t="t" l="l"/>
                <a:pathLst>
                  <a:path h="2494516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2494516"/>
                    </a:lnTo>
                    <a:lnTo>
                      <a:pt x="0" y="24945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6" r="0" b="-2529"/>
                </a:stretch>
              </a:blipFill>
            </p:spPr>
            <p:txBody>
              <a:bodyPr/>
              <a:p/>
            </p:txBody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6681216" cy="25326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t>The dataset is highly imbalanced and lacks a native patient/admission ID.</a:t>
                </a:r>
              </a:p>
              <a:p>
                <a:r>
                  <a:t>We reconstructed episodes from hour resets and optimized PR-AUC instead of raw accuracy.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7819809" y="27521"/>
              <a:ext cx="228943" cy="4029710"/>
              <a:chOff x="0" y="0"/>
              <a:chExt cx="228943" cy="402971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6776"/>
                <a:ext cx="195072" cy="3996069"/>
              </a:xfrm>
              <a:custGeom>
                <a:avLst/>
                <a:gdLst/>
                <a:ahLst/>
                <a:cxnLst/>
                <a:rect r="r" b="b" t="t" l="l"/>
                <a:pathLst>
                  <a:path h="3996069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3996069"/>
                    </a:lnTo>
                    <a:lnTo>
                      <a:pt x="0" y="399606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28854" cy="4029621"/>
              </a:xfrm>
              <a:custGeom>
                <a:avLst/>
                <a:gdLst/>
                <a:ahLst/>
                <a:cxnLst/>
                <a:rect r="r" b="b" t="t" l="l"/>
                <a:pathLst>
                  <a:path h="4029621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7568"/>
                      <a:pt x="228854" y="16776"/>
                    </a:cubicBezTo>
                    <a:lnTo>
                      <a:pt x="228854" y="4012845"/>
                    </a:lnTo>
                    <a:cubicBezTo>
                      <a:pt x="228854" y="4022179"/>
                      <a:pt x="221234" y="4029621"/>
                      <a:pt x="211963" y="4029621"/>
                    </a:cubicBezTo>
                    <a:lnTo>
                      <a:pt x="16891" y="4029621"/>
                    </a:lnTo>
                    <a:cubicBezTo>
                      <a:pt x="7493" y="4029621"/>
                      <a:pt x="0" y="4022053"/>
                      <a:pt x="0" y="4012845"/>
                    </a:cubicBezTo>
                    <a:lnTo>
                      <a:pt x="0" y="16776"/>
                    </a:lnTo>
                    <a:cubicBezTo>
                      <a:pt x="0" y="7568"/>
                      <a:pt x="7620" y="0"/>
                      <a:pt x="16891" y="0"/>
                    </a:cubicBezTo>
                    <a:moveTo>
                      <a:pt x="16891" y="33679"/>
                    </a:moveTo>
                    <a:lnTo>
                      <a:pt x="16891" y="16776"/>
                    </a:lnTo>
                    <a:lnTo>
                      <a:pt x="33909" y="16776"/>
                    </a:lnTo>
                    <a:lnTo>
                      <a:pt x="33909" y="4012845"/>
                    </a:lnTo>
                    <a:lnTo>
                      <a:pt x="16891" y="4012845"/>
                    </a:lnTo>
                    <a:lnTo>
                      <a:pt x="16891" y="3996069"/>
                    </a:lnTo>
                    <a:lnTo>
                      <a:pt x="211963" y="3996069"/>
                    </a:lnTo>
                    <a:lnTo>
                      <a:pt x="211963" y="4012845"/>
                    </a:lnTo>
                    <a:lnTo>
                      <a:pt x="195072" y="4012845"/>
                    </a:lnTo>
                    <a:lnTo>
                      <a:pt x="195072" y="16776"/>
                    </a:lnTo>
                    <a:lnTo>
                      <a:pt x="211963" y="16776"/>
                    </a:lnTo>
                    <a:lnTo>
                      <a:pt x="211963" y="33679"/>
                    </a:lnTo>
                    <a:lnTo>
                      <a:pt x="16891" y="3367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8275650" y="286521"/>
              <a:ext cx="6681216" cy="871870"/>
              <a:chOff x="0" y="0"/>
              <a:chExt cx="6681216" cy="87187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681216" cy="871870"/>
              </a:xfrm>
              <a:custGeom>
                <a:avLst/>
                <a:gdLst/>
                <a:ahLst/>
                <a:cxnLst/>
                <a:rect r="r" b="b" t="t" l="l"/>
                <a:pathLst>
                  <a:path h="871870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871870"/>
                    </a:lnTo>
                    <a:lnTo>
                      <a:pt x="0" y="87187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974" r="0" b="-99657"/>
                </a:stretch>
              </a:blipFill>
            </p:spPr>
            <p:txBody>
              <a:bodyPr/>
              <a:p/>
            </p:txBody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6681216" cy="9099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0F17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⚙️  Model Performance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8275650" y="1255265"/>
              <a:ext cx="6681216" cy="2494516"/>
              <a:chOff x="0" y="0"/>
              <a:chExt cx="6681216" cy="249451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6681216" cy="2494516"/>
              </a:xfrm>
              <a:custGeom>
                <a:avLst/>
                <a:gdLst/>
                <a:ahLst/>
                <a:cxnLst/>
                <a:rect r="r" b="b" t="t" l="l"/>
                <a:pathLst>
                  <a:path h="2494516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2494516"/>
                    </a:lnTo>
                    <a:lnTo>
                      <a:pt x="0" y="24945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6" r="0" b="-2529"/>
                </a:stretch>
              </a:blipFill>
            </p:spPr>
            <p:txBody>
              <a:bodyPr/>
              <a:p/>
            </p:txBody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6681216" cy="25326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t>We compared CatBoost, TCN, GRU+Attention, and Transformer variants rather than overcommitting to one family.</a:t>
                </a:r>
              </a:p>
              <a:p>
                <a:r>
                  <a:t>The final tuned CatBoost reached PR-AUC 0.740, improving over the repo best 0.732.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5622689" y="27521"/>
              <a:ext cx="228943" cy="4029710"/>
              <a:chOff x="0" y="0"/>
              <a:chExt cx="228943" cy="402971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776"/>
                <a:ext cx="195072" cy="3996069"/>
              </a:xfrm>
              <a:custGeom>
                <a:avLst/>
                <a:gdLst/>
                <a:ahLst/>
                <a:cxnLst/>
                <a:rect r="r" b="b" t="t" l="l"/>
                <a:pathLst>
                  <a:path h="3996069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3996069"/>
                    </a:lnTo>
                    <a:lnTo>
                      <a:pt x="0" y="399606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28854" cy="4029621"/>
              </a:xfrm>
              <a:custGeom>
                <a:avLst/>
                <a:gdLst/>
                <a:ahLst/>
                <a:cxnLst/>
                <a:rect r="r" b="b" t="t" l="l"/>
                <a:pathLst>
                  <a:path h="4029621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7568"/>
                      <a:pt x="228854" y="16776"/>
                    </a:cubicBezTo>
                    <a:lnTo>
                      <a:pt x="228854" y="4012845"/>
                    </a:lnTo>
                    <a:cubicBezTo>
                      <a:pt x="228854" y="4022179"/>
                      <a:pt x="221234" y="4029621"/>
                      <a:pt x="211963" y="4029621"/>
                    </a:cubicBezTo>
                    <a:lnTo>
                      <a:pt x="16891" y="4029621"/>
                    </a:lnTo>
                    <a:cubicBezTo>
                      <a:pt x="7493" y="4029621"/>
                      <a:pt x="0" y="4022053"/>
                      <a:pt x="0" y="4012845"/>
                    </a:cubicBezTo>
                    <a:lnTo>
                      <a:pt x="0" y="16776"/>
                    </a:lnTo>
                    <a:cubicBezTo>
                      <a:pt x="0" y="7568"/>
                      <a:pt x="7620" y="0"/>
                      <a:pt x="16891" y="0"/>
                    </a:cubicBezTo>
                    <a:moveTo>
                      <a:pt x="16891" y="33679"/>
                    </a:moveTo>
                    <a:lnTo>
                      <a:pt x="16891" y="16776"/>
                    </a:lnTo>
                    <a:lnTo>
                      <a:pt x="33909" y="16776"/>
                    </a:lnTo>
                    <a:lnTo>
                      <a:pt x="33909" y="4012845"/>
                    </a:lnTo>
                    <a:lnTo>
                      <a:pt x="16891" y="4012845"/>
                    </a:lnTo>
                    <a:lnTo>
                      <a:pt x="16891" y="3996069"/>
                    </a:lnTo>
                    <a:lnTo>
                      <a:pt x="211963" y="3996069"/>
                    </a:lnTo>
                    <a:lnTo>
                      <a:pt x="211963" y="4012845"/>
                    </a:lnTo>
                    <a:lnTo>
                      <a:pt x="195072" y="4012845"/>
                    </a:lnTo>
                    <a:lnTo>
                      <a:pt x="195072" y="16776"/>
                    </a:lnTo>
                    <a:lnTo>
                      <a:pt x="211963" y="16776"/>
                    </a:lnTo>
                    <a:lnTo>
                      <a:pt x="211963" y="33679"/>
                    </a:lnTo>
                    <a:lnTo>
                      <a:pt x="16891" y="3367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6029775" y="269748"/>
              <a:ext cx="6681216" cy="877824"/>
              <a:chOff x="0" y="0"/>
              <a:chExt cx="6681216" cy="87782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6681216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302" r="0" b="-98302"/>
                </a:stretch>
              </a:blipFill>
            </p:spPr>
            <p:txBody>
              <a:bodyPr/>
              <a:p/>
            </p:txBody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6681216" cy="9159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0F17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💻  Compute Constraints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6126379" y="1223772"/>
              <a:ext cx="6681216" cy="2511552"/>
              <a:chOff x="0" y="0"/>
              <a:chExt cx="6681216" cy="25115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681216" cy="2511552"/>
              </a:xfrm>
              <a:custGeom>
                <a:avLst/>
                <a:gdLst/>
                <a:ahLst/>
                <a:cxnLst/>
                <a:rect r="r" b="b" t="t" l="l"/>
                <a:pathLst>
                  <a:path h="2511552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2511552"/>
                    </a:lnTo>
                    <a:lnTo>
                      <a:pt x="0" y="251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33" r="0" b="-1833"/>
                </a:stretch>
              </a:blipFill>
            </p:spPr>
            <p:txBody>
              <a:bodyPr/>
              <a:p/>
            </p:txBody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6681216" cy="25496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t>The repo keeps only essential artifacts under version control and regenerates bulky outputs locally.</a:t>
                </a:r>
              </a:p>
              <a:p>
                <a:r>
                  <a:t>The final revalidation in this environment was CPU-based, so we narrowed the search around the strongest CatBoost region.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7802880" y="4400131"/>
              <a:ext cx="7349071" cy="4057231"/>
              <a:chOff x="0" y="0"/>
              <a:chExt cx="7349071" cy="405723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7315200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7348982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7348982">
                    <a:moveTo>
                      <a:pt x="16891" y="0"/>
                    </a:moveTo>
                    <a:lnTo>
                      <a:pt x="7332091" y="0"/>
                    </a:lnTo>
                    <a:cubicBezTo>
                      <a:pt x="7341489" y="0"/>
                      <a:pt x="7348982" y="7620"/>
                      <a:pt x="7348982" y="16891"/>
                    </a:cubicBezTo>
                    <a:lnTo>
                      <a:pt x="7348982" y="4040251"/>
                    </a:lnTo>
                    <a:cubicBezTo>
                      <a:pt x="7348982" y="4049649"/>
                      <a:pt x="7341362" y="4057142"/>
                      <a:pt x="7332091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7332091" y="4023360"/>
                    </a:lnTo>
                    <a:lnTo>
                      <a:pt x="7332091" y="4040251"/>
                    </a:lnTo>
                    <a:lnTo>
                      <a:pt x="7315200" y="4040251"/>
                    </a:lnTo>
                    <a:lnTo>
                      <a:pt x="7315200" y="16891"/>
                    </a:lnTo>
                    <a:lnTo>
                      <a:pt x="7332091" y="16891"/>
                    </a:lnTo>
                    <a:lnTo>
                      <a:pt x="7332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5605760" y="4400131"/>
              <a:ext cx="7349071" cy="4057231"/>
              <a:chOff x="0" y="0"/>
              <a:chExt cx="7349071" cy="4057231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6891"/>
                <a:ext cx="7315200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7348982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7348982">
                    <a:moveTo>
                      <a:pt x="16891" y="0"/>
                    </a:moveTo>
                    <a:lnTo>
                      <a:pt x="7332091" y="0"/>
                    </a:lnTo>
                    <a:cubicBezTo>
                      <a:pt x="7341489" y="0"/>
                      <a:pt x="7348982" y="7620"/>
                      <a:pt x="7348982" y="16891"/>
                    </a:cubicBezTo>
                    <a:lnTo>
                      <a:pt x="7348982" y="4040251"/>
                    </a:lnTo>
                    <a:cubicBezTo>
                      <a:pt x="7348982" y="4049649"/>
                      <a:pt x="7341362" y="4057142"/>
                      <a:pt x="7332091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7332091" y="4023360"/>
                    </a:lnTo>
                    <a:lnTo>
                      <a:pt x="7332091" y="4040251"/>
                    </a:lnTo>
                    <a:lnTo>
                      <a:pt x="7315200" y="4040251"/>
                    </a:lnTo>
                    <a:lnTo>
                      <a:pt x="7315200" y="16891"/>
                    </a:lnTo>
                    <a:lnTo>
                      <a:pt x="7332091" y="16891"/>
                    </a:lnTo>
                    <a:lnTo>
                      <a:pt x="7332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7802880" y="4400131"/>
              <a:ext cx="228943" cy="4057231"/>
              <a:chOff x="0" y="0"/>
              <a:chExt cx="228943" cy="4057231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6891" y="16891"/>
                <a:ext cx="195072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28854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7620"/>
                      <a:pt x="228854" y="16891"/>
                    </a:cubicBezTo>
                    <a:lnTo>
                      <a:pt x="228854" y="4040251"/>
                    </a:lnTo>
                    <a:cubicBezTo>
                      <a:pt x="228854" y="4049649"/>
                      <a:pt x="221234" y="4057142"/>
                      <a:pt x="211963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211963" y="4023360"/>
                    </a:lnTo>
                    <a:lnTo>
                      <a:pt x="211963" y="4040251"/>
                    </a:lnTo>
                    <a:lnTo>
                      <a:pt x="195072" y="4040251"/>
                    </a:lnTo>
                    <a:lnTo>
                      <a:pt x="195072" y="16891"/>
                    </a:lnTo>
                    <a:lnTo>
                      <a:pt x="211963" y="16891"/>
                    </a:lnTo>
                    <a:lnTo>
                      <a:pt x="2119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8356263" y="4833620"/>
              <a:ext cx="6681216" cy="877824"/>
              <a:chOff x="0" y="0"/>
              <a:chExt cx="6681216" cy="87782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6681216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302" r="0" b="-98302"/>
                </a:stretch>
              </a:blipFill>
            </p:spPr>
            <p:txBody>
              <a:bodyPr/>
              <a:p/>
            </p:txBody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6681216" cy="9159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0F17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🔗  Integration</a:t>
                </a: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8336623" y="5711444"/>
              <a:ext cx="6681216" cy="2511552"/>
              <a:chOff x="0" y="0"/>
              <a:chExt cx="6681216" cy="251155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6681216" cy="2511552"/>
              </a:xfrm>
              <a:custGeom>
                <a:avLst/>
                <a:gdLst/>
                <a:ahLst/>
                <a:cxnLst/>
                <a:rect r="r" b="b" t="t" l="l"/>
                <a:pathLst>
                  <a:path h="2511552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2511552"/>
                    </a:lnTo>
                    <a:lnTo>
                      <a:pt x="0" y="251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33" r="0" b="-1833"/>
                </a:stretch>
              </a:blipFill>
            </p:spPr>
            <p:txBody>
              <a:bodyPr/>
              <a:p/>
            </p:txBody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6681216" cy="25496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t>Predictions, thresholds, and metadata are exported to artifacts so the Streamlit dashboard can reuse them directly.</a:t>
                </a:r>
              </a:p>
              <a:p>
                <a:r>
                  <a:t>This keeps training and interface layers synchronized.</a:t>
                </a: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15622689" y="4400131"/>
              <a:ext cx="228943" cy="4057231"/>
              <a:chOff x="0" y="0"/>
              <a:chExt cx="228943" cy="4057231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6891"/>
                <a:ext cx="195072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28854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7620"/>
                      <a:pt x="228854" y="16891"/>
                    </a:cubicBezTo>
                    <a:lnTo>
                      <a:pt x="228854" y="4040251"/>
                    </a:lnTo>
                    <a:cubicBezTo>
                      <a:pt x="228854" y="4049649"/>
                      <a:pt x="221234" y="4057142"/>
                      <a:pt x="211963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211963" y="4023360"/>
                    </a:lnTo>
                    <a:lnTo>
                      <a:pt x="211963" y="4040251"/>
                    </a:lnTo>
                    <a:lnTo>
                      <a:pt x="195072" y="4040251"/>
                    </a:lnTo>
                    <a:lnTo>
                      <a:pt x="195072" y="16891"/>
                    </a:lnTo>
                    <a:lnTo>
                      <a:pt x="211963" y="16891"/>
                    </a:lnTo>
                    <a:lnTo>
                      <a:pt x="2119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16126379" y="4833620"/>
              <a:ext cx="6681216" cy="877824"/>
              <a:chOff x="0" y="0"/>
              <a:chExt cx="6681216" cy="877824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6681216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302" r="0" b="-98302"/>
                </a:stretch>
              </a:blipFill>
            </p:spPr>
            <p:txBody>
              <a:bodyPr/>
              <a:p/>
            </p:txBody>
          </p:sp>
          <p:sp>
            <p:nvSpPr>
              <p:cNvPr name="TextBox 80" id="80"/>
              <p:cNvSpPr txBox="true"/>
              <p:nvPr/>
            </p:nvSpPr>
            <p:spPr>
              <a:xfrm>
                <a:off x="0" y="-38100"/>
                <a:ext cx="6681216" cy="9159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0F17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📏  Evaluation</a:t>
                </a: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6126379" y="5747855"/>
              <a:ext cx="6681216" cy="2511552"/>
              <a:chOff x="0" y="0"/>
              <a:chExt cx="6681216" cy="251155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6681216" cy="2511552"/>
              </a:xfrm>
              <a:custGeom>
                <a:avLst/>
                <a:gdLst/>
                <a:ahLst/>
                <a:cxnLst/>
                <a:rect r="r" b="b" t="t" l="l"/>
                <a:pathLst>
                  <a:path h="2511552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2511552"/>
                    </a:lnTo>
                    <a:lnTo>
                      <a:pt x="0" y="251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33" r="0" b="-1833"/>
                </a:stretch>
              </a:blipFill>
            </p:spPr>
            <p:txBody>
              <a:bodyPr/>
              <a:p/>
            </p:txBody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6681216" cy="25496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t>The blind validation CSV has no labels, so true model comparison depends on an internal group-aware holdout.</a:t>
                </a:r>
              </a:p>
              <a:p>
                <a:r>
                  <a:t>We report PR-AUC, ROC-AUC, Brier score, and alert-threshold metrics.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0" y="4400131"/>
              <a:ext cx="7349071" cy="4057231"/>
              <a:chOff x="0" y="0"/>
              <a:chExt cx="7349071" cy="4057231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16891" y="16891"/>
                <a:ext cx="7315200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7348982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7348982">
                    <a:moveTo>
                      <a:pt x="16891" y="0"/>
                    </a:moveTo>
                    <a:lnTo>
                      <a:pt x="7332091" y="0"/>
                    </a:lnTo>
                    <a:cubicBezTo>
                      <a:pt x="7341489" y="0"/>
                      <a:pt x="7348982" y="7620"/>
                      <a:pt x="7348982" y="16891"/>
                    </a:cubicBezTo>
                    <a:lnTo>
                      <a:pt x="7348982" y="4040251"/>
                    </a:lnTo>
                    <a:cubicBezTo>
                      <a:pt x="7348982" y="4049649"/>
                      <a:pt x="7341362" y="4057142"/>
                      <a:pt x="7332091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7332091" y="4023360"/>
                    </a:lnTo>
                    <a:lnTo>
                      <a:pt x="7332091" y="4040251"/>
                    </a:lnTo>
                    <a:lnTo>
                      <a:pt x="7315200" y="4040251"/>
                    </a:lnTo>
                    <a:lnTo>
                      <a:pt x="7315200" y="16891"/>
                    </a:lnTo>
                    <a:lnTo>
                      <a:pt x="7332091" y="16891"/>
                    </a:lnTo>
                    <a:lnTo>
                      <a:pt x="73320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550164" y="4870031"/>
              <a:ext cx="6681216" cy="877824"/>
              <a:chOff x="0" y="0"/>
              <a:chExt cx="6681216" cy="877824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6681216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302" r="0" b="-98302"/>
                </a:stretch>
              </a:blipFill>
            </p:spPr>
            <p:txBody>
              <a:bodyPr/>
              <a:p/>
            </p:txBody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6681216" cy="91592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0F17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🔬  Domain Knowledge Gap</a:t>
                </a: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0">
              <a:off x="590529" y="5747855"/>
              <a:ext cx="6681216" cy="2511552"/>
              <a:chOff x="0" y="0"/>
              <a:chExt cx="6681216" cy="2511552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6681216" cy="2511552"/>
              </a:xfrm>
              <a:custGeom>
                <a:avLst/>
                <a:gdLst/>
                <a:ahLst/>
                <a:cxnLst/>
                <a:rect r="r" b="b" t="t" l="l"/>
                <a:pathLst>
                  <a:path h="2511552" w="6681216">
                    <a:moveTo>
                      <a:pt x="0" y="0"/>
                    </a:moveTo>
                    <a:lnTo>
                      <a:pt x="6681216" y="0"/>
                    </a:lnTo>
                    <a:lnTo>
                      <a:pt x="6681216" y="2511552"/>
                    </a:lnTo>
                    <a:lnTo>
                      <a:pt x="0" y="251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33" r="0" b="-1833"/>
                </a:stretch>
              </a:blipFill>
            </p:spPr>
            <p:txBody>
              <a:bodyPr/>
              <a:p/>
            </p:txBody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6681216" cy="25496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t>We added interpretable clinical features such as shock index, pulse pressure, mean arterial pressure, and SpO2 deficit.</a:t>
                </a:r>
              </a:p>
              <a:p>
                <a:r>
                  <a:t>This improved both model signal quality and clinical interpretability.</a:t>
                </a: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16929" y="4400131"/>
              <a:ext cx="228943" cy="4057231"/>
              <a:chOff x="0" y="0"/>
              <a:chExt cx="228943" cy="4057231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16891" y="16891"/>
                <a:ext cx="195072" cy="4023360"/>
              </a:xfrm>
              <a:custGeom>
                <a:avLst/>
                <a:gdLst/>
                <a:ahLst/>
                <a:cxnLst/>
                <a:rect r="r" b="b" t="t" l="l"/>
                <a:pathLst>
                  <a:path h="4023360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4023360"/>
                    </a:lnTo>
                    <a:lnTo>
                      <a:pt x="0" y="4023360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228854" cy="4057142"/>
              </a:xfrm>
              <a:custGeom>
                <a:avLst/>
                <a:gdLst/>
                <a:ahLst/>
                <a:cxnLst/>
                <a:rect r="r" b="b" t="t" l="l"/>
                <a:pathLst>
                  <a:path h="4057142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7620"/>
                      <a:pt x="228854" y="16891"/>
                    </a:cubicBezTo>
                    <a:lnTo>
                      <a:pt x="228854" y="4040251"/>
                    </a:lnTo>
                    <a:cubicBezTo>
                      <a:pt x="228854" y="4049649"/>
                      <a:pt x="221234" y="4057142"/>
                      <a:pt x="211963" y="4057142"/>
                    </a:cubicBezTo>
                    <a:lnTo>
                      <a:pt x="16891" y="4057142"/>
                    </a:lnTo>
                    <a:cubicBezTo>
                      <a:pt x="7493" y="4057142"/>
                      <a:pt x="0" y="4049522"/>
                      <a:pt x="0" y="40402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040251"/>
                    </a:lnTo>
                    <a:lnTo>
                      <a:pt x="16891" y="4040251"/>
                    </a:lnTo>
                    <a:lnTo>
                      <a:pt x="16891" y="4023360"/>
                    </a:lnTo>
                    <a:lnTo>
                      <a:pt x="211963" y="4023360"/>
                    </a:lnTo>
                    <a:lnTo>
                      <a:pt x="211963" y="4040251"/>
                    </a:lnTo>
                    <a:lnTo>
                      <a:pt x="195072" y="4040251"/>
                    </a:lnTo>
                    <a:lnTo>
                      <a:pt x="195072" y="16891"/>
                    </a:lnTo>
                    <a:lnTo>
                      <a:pt x="211963" y="16891"/>
                    </a:lnTo>
                    <a:lnTo>
                      <a:pt x="2119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</p:grpSp>
      <p:grpSp>
        <p:nvGrpSpPr>
          <p:cNvPr name="Group 96" id="96"/>
          <p:cNvGrpSpPr/>
          <p:nvPr/>
        </p:nvGrpSpPr>
        <p:grpSpPr>
          <a:xfrm rot="0">
            <a:off x="15136183" y="160468"/>
            <a:ext cx="2433003" cy="1028252"/>
            <a:chOff x="0" y="0"/>
            <a:chExt cx="3244004" cy="1371003"/>
          </a:xfrm>
        </p:grpSpPr>
        <p:grpSp>
          <p:nvGrpSpPr>
            <p:cNvPr name="Group 97" id="97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99" id="99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353063" y="40929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228479" y="155453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Introduction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316736"/>
            <a:ext cx="17190720" cy="475488"/>
            <a:chOff x="0" y="0"/>
            <a:chExt cx="229209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Who are we?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3063" y="1925831"/>
            <a:ext cx="17581883" cy="1342139"/>
            <a:chOff x="0" y="0"/>
            <a:chExt cx="23442511" cy="17895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40863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42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1772539"/>
                  </a:lnTo>
                  <a:cubicBezTo>
                    <a:pt x="23442422" y="1781937"/>
                    <a:pt x="23434802" y="1789430"/>
                    <a:pt x="2342553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3425530" y="1755648"/>
                  </a:lnTo>
                  <a:lnTo>
                    <a:pt x="23425530" y="1772539"/>
                  </a:lnTo>
                  <a:lnTo>
                    <a:pt x="23408639" y="1772539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2084832"/>
            <a:ext cx="9144000" cy="658368"/>
            <a:chOff x="0" y="0"/>
            <a:chExt cx="1219200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21920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t>Team Name: [Add Team Name]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41280" y="2084832"/>
            <a:ext cx="7315200" cy="658368"/>
            <a:chOff x="0" y="0"/>
            <a:chExt cx="9753600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t>Team ID: [Add Team ID]  |  Problem Statement: Patient Deterioration Prediction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6542" y="3563245"/>
            <a:ext cx="8653839" cy="2848665"/>
            <a:chOff x="0" y="0"/>
            <a:chExt cx="11372431" cy="37435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7129"/>
              <a:ext cx="11338560" cy="3709220"/>
            </a:xfrm>
            <a:custGeom>
              <a:avLst/>
              <a:gdLst/>
              <a:ahLst/>
              <a:cxnLst/>
              <a:rect r="r" b="b" t="t" l="l"/>
              <a:pathLst>
                <a:path h="37092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709221"/>
                  </a:lnTo>
                  <a:lnTo>
                    <a:pt x="0" y="37092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72342" cy="3743479"/>
            </a:xfrm>
            <a:custGeom>
              <a:avLst/>
              <a:gdLst/>
              <a:ahLst/>
              <a:cxnLst/>
              <a:rect r="r" b="b" t="t" l="l"/>
              <a:pathLst>
                <a:path h="3743479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728"/>
                    <a:pt x="11372342" y="17129"/>
                  </a:cubicBezTo>
                  <a:lnTo>
                    <a:pt x="11372342" y="3726350"/>
                  </a:lnTo>
                  <a:cubicBezTo>
                    <a:pt x="11372342" y="3735880"/>
                    <a:pt x="11364722" y="3743479"/>
                    <a:pt x="11355451" y="3743479"/>
                  </a:cubicBezTo>
                  <a:lnTo>
                    <a:pt x="16891" y="3743479"/>
                  </a:lnTo>
                  <a:cubicBezTo>
                    <a:pt x="7493" y="3743479"/>
                    <a:pt x="0" y="3735752"/>
                    <a:pt x="0" y="3726350"/>
                  </a:cubicBezTo>
                  <a:lnTo>
                    <a:pt x="0" y="17129"/>
                  </a:lnTo>
                  <a:cubicBezTo>
                    <a:pt x="0" y="7728"/>
                    <a:pt x="7620" y="0"/>
                    <a:pt x="16891" y="0"/>
                  </a:cubicBezTo>
                  <a:moveTo>
                    <a:pt x="16891" y="34388"/>
                  </a:moveTo>
                  <a:lnTo>
                    <a:pt x="16891" y="17129"/>
                  </a:lnTo>
                  <a:lnTo>
                    <a:pt x="33909" y="17129"/>
                  </a:lnTo>
                  <a:lnTo>
                    <a:pt x="33909" y="3726350"/>
                  </a:lnTo>
                  <a:lnTo>
                    <a:pt x="16891" y="3726350"/>
                  </a:lnTo>
                  <a:lnTo>
                    <a:pt x="16891" y="3709220"/>
                  </a:lnTo>
                  <a:lnTo>
                    <a:pt x="11355451" y="3709220"/>
                  </a:lnTo>
                  <a:lnTo>
                    <a:pt x="11355451" y="3726350"/>
                  </a:lnTo>
                  <a:lnTo>
                    <a:pt x="11338560" y="3726350"/>
                  </a:lnTo>
                  <a:lnTo>
                    <a:pt x="11338560" y="17129"/>
                  </a:lnTo>
                  <a:lnTo>
                    <a:pt x="11355451" y="17129"/>
                  </a:lnTo>
                  <a:lnTo>
                    <a:pt x="11355451" y="34388"/>
                  </a:lnTo>
                  <a:lnTo>
                    <a:pt x="16891" y="34388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5915" y="3951829"/>
            <a:ext cx="7991473" cy="2090423"/>
            <a:chOff x="0" y="0"/>
            <a:chExt cx="10655297" cy="2787231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80096" y="56223"/>
              <a:ext cx="2423503" cy="2423503"/>
              <a:chOff x="0" y="0"/>
              <a:chExt cx="2423503" cy="242350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6891" y="16891"/>
                <a:ext cx="2389632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389632">
                    <a:moveTo>
                      <a:pt x="0" y="1194816"/>
                    </a:moveTo>
                    <a:cubicBezTo>
                      <a:pt x="0" y="534924"/>
                      <a:pt x="534924" y="0"/>
                      <a:pt x="1194816" y="0"/>
                    </a:cubicBezTo>
                    <a:cubicBezTo>
                      <a:pt x="1854708" y="0"/>
                      <a:pt x="2389632" y="534924"/>
                      <a:pt x="2389632" y="1194816"/>
                    </a:cubicBezTo>
                    <a:cubicBezTo>
                      <a:pt x="2389632" y="1854708"/>
                      <a:pt x="1854708" y="2389632"/>
                      <a:pt x="1194816" y="2389632"/>
                    </a:cubicBezTo>
                    <a:cubicBezTo>
                      <a:pt x="534924" y="2389632"/>
                      <a:pt x="0" y="1854708"/>
                      <a:pt x="0" y="1194816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423414" cy="2423414"/>
              </a:xfrm>
              <a:custGeom>
                <a:avLst/>
                <a:gdLst/>
                <a:ahLst/>
                <a:cxnLst/>
                <a:rect r="r" b="b" t="t" l="l"/>
                <a:pathLst>
                  <a:path h="2423414" w="2423414">
                    <a:moveTo>
                      <a:pt x="0" y="1211707"/>
                    </a:moveTo>
                    <a:cubicBezTo>
                      <a:pt x="0" y="542544"/>
                      <a:pt x="542544" y="0"/>
                      <a:pt x="1211707" y="0"/>
                    </a:cubicBezTo>
                    <a:lnTo>
                      <a:pt x="1211707" y="16891"/>
                    </a:lnTo>
                    <a:lnTo>
                      <a:pt x="1211707" y="0"/>
                    </a:lnTo>
                    <a:cubicBezTo>
                      <a:pt x="1880997" y="0"/>
                      <a:pt x="2423414" y="542544"/>
                      <a:pt x="2423414" y="1211707"/>
                    </a:cubicBezTo>
                    <a:lnTo>
                      <a:pt x="2406523" y="1211707"/>
                    </a:lnTo>
                    <a:lnTo>
                      <a:pt x="2423414" y="1211707"/>
                    </a:lnTo>
                    <a:cubicBezTo>
                      <a:pt x="2423414" y="1880997"/>
                      <a:pt x="1880870" y="2423414"/>
                      <a:pt x="1211707" y="2423414"/>
                    </a:cubicBezTo>
                    <a:lnTo>
                      <a:pt x="1211707" y="2406523"/>
                    </a:lnTo>
                    <a:lnTo>
                      <a:pt x="1211707" y="2423414"/>
                    </a:lnTo>
                    <a:cubicBezTo>
                      <a:pt x="542544" y="2423541"/>
                      <a:pt x="0" y="1880997"/>
                      <a:pt x="0" y="1211707"/>
                    </a:cubicBezTo>
                    <a:lnTo>
                      <a:pt x="16891" y="1211707"/>
                    </a:lnTo>
                    <a:lnTo>
                      <a:pt x="33909" y="1211707"/>
                    </a:lnTo>
                    <a:lnTo>
                      <a:pt x="16891" y="1211707"/>
                    </a:lnTo>
                    <a:lnTo>
                      <a:pt x="0" y="1211707"/>
                    </a:lnTo>
                    <a:moveTo>
                      <a:pt x="33909" y="1211707"/>
                    </a:moveTo>
                    <a:cubicBezTo>
                      <a:pt x="33909" y="1221105"/>
                      <a:pt x="26289" y="1228598"/>
                      <a:pt x="17018" y="1228598"/>
                    </a:cubicBezTo>
                    <a:cubicBezTo>
                      <a:pt x="7747" y="1228598"/>
                      <a:pt x="0" y="1221105"/>
                      <a:pt x="0" y="1211707"/>
                    </a:cubicBezTo>
                    <a:cubicBezTo>
                      <a:pt x="0" y="1202309"/>
                      <a:pt x="7620" y="1194816"/>
                      <a:pt x="16891" y="1194816"/>
                    </a:cubicBezTo>
                    <a:cubicBezTo>
                      <a:pt x="26162" y="1194816"/>
                      <a:pt x="33782" y="1202436"/>
                      <a:pt x="33782" y="1211707"/>
                    </a:cubicBezTo>
                    <a:cubicBezTo>
                      <a:pt x="33782" y="1862201"/>
                      <a:pt x="561086" y="2389632"/>
                      <a:pt x="1211707" y="2389632"/>
                    </a:cubicBezTo>
                    <a:cubicBezTo>
                      <a:pt x="1862201" y="2389632"/>
                      <a:pt x="2389632" y="1862328"/>
                      <a:pt x="2389632" y="1211707"/>
                    </a:cubicBezTo>
                    <a:cubicBezTo>
                      <a:pt x="2389632" y="561213"/>
                      <a:pt x="1862328" y="33782"/>
                      <a:pt x="1211707" y="33782"/>
                    </a:cubicBezTo>
                    <a:lnTo>
                      <a:pt x="1211707" y="16891"/>
                    </a:lnTo>
                    <a:lnTo>
                      <a:pt x="1211707" y="33909"/>
                    </a:lnTo>
                    <a:cubicBezTo>
                      <a:pt x="561213" y="33909"/>
                      <a:pt x="33909" y="561213"/>
                      <a:pt x="33909" y="1211707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2583695" cy="2583695"/>
              <a:chOff x="0" y="0"/>
              <a:chExt cx="2389632" cy="238963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389632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389632">
                    <a:moveTo>
                      <a:pt x="0" y="0"/>
                    </a:moveTo>
                    <a:lnTo>
                      <a:pt x="2389632" y="0"/>
                    </a:lnTo>
                    <a:lnTo>
                      <a:pt x="2389632" y="2389632"/>
                    </a:lnTo>
                    <a:lnTo>
                      <a:pt x="0" y="2389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  <p:sp>
            <p:nvSpPr>
              <p:cNvPr name="TextBox 41" id="41"/>
              <p:cNvSpPr txBox="true"/>
              <p:nvPr/>
            </p:nvSpPr>
            <p:spPr>
              <a:xfrm>
                <a:off x="0" y="-76200"/>
                <a:ext cx="2389632" cy="246583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852417" y="56223"/>
              <a:ext cx="7802880" cy="829056"/>
              <a:chOff x="0" y="0"/>
              <a:chExt cx="7802880" cy="82905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80288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3388" r="0" b="-133388"/>
                </a:stretch>
              </a:blipFill>
            </p:spPr>
            <p:txBody>
              <a:bodyPr/>
              <a:p/>
            </p:txBody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7802880" cy="88620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t>Aryaman Singh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2852417" y="934047"/>
              <a:ext cx="7802880" cy="633984"/>
              <a:chOff x="0" y="0"/>
              <a:chExt cx="7802880" cy="633984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80288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9815" r="0" b="-189815"/>
                </a:stretch>
              </a:blipFill>
            </p:spPr>
            <p:txBody>
              <a:bodyPr/>
              <a:p/>
            </p:txBody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780288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i="true">
                    <a:solidFill>
                      <a:srgbClr val="0D9488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Team Lead / ML Engineer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852417" y="1665567"/>
              <a:ext cx="7802880" cy="1121664"/>
              <a:chOff x="0" y="0"/>
              <a:chExt cx="7802880" cy="112166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80288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5548" r="0" b="-85548"/>
                </a:stretch>
              </a:blipFill>
            </p:spPr>
            <p:txBody>
              <a:bodyPr/>
              <a:p/>
            </p:txBody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7802880" cy="11597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Skills: Deep Learning, PyTorch</a:t>
                </a: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9198869" y="3582172"/>
            <a:ext cx="8717666" cy="2829739"/>
            <a:chOff x="0" y="0"/>
            <a:chExt cx="11372431" cy="369147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113385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37234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3674491"/>
                  </a:lnTo>
                  <a:cubicBezTo>
                    <a:pt x="11372342" y="3683889"/>
                    <a:pt x="11364722" y="3691382"/>
                    <a:pt x="1135545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1355451" y="3657600"/>
                  </a:lnTo>
                  <a:lnTo>
                    <a:pt x="11355451" y="3674491"/>
                  </a:lnTo>
                  <a:lnTo>
                    <a:pt x="11338560" y="367449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97063" y="3992375"/>
            <a:ext cx="1817627" cy="1817627"/>
            <a:chOff x="0" y="0"/>
            <a:chExt cx="2423503" cy="242350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389632" cy="2389632"/>
            </a:xfrm>
            <a:custGeom>
              <a:avLst/>
              <a:gdLst/>
              <a:ahLst/>
              <a:cxnLst/>
              <a:rect r="r" b="b" t="t" l="l"/>
              <a:pathLst>
                <a:path h="2389632" w="2389632">
                  <a:moveTo>
                    <a:pt x="0" y="1194816"/>
                  </a:moveTo>
                  <a:cubicBezTo>
                    <a:pt x="0" y="534924"/>
                    <a:pt x="534924" y="0"/>
                    <a:pt x="1194816" y="0"/>
                  </a:cubicBezTo>
                  <a:cubicBezTo>
                    <a:pt x="1854708" y="0"/>
                    <a:pt x="2389632" y="534924"/>
                    <a:pt x="2389632" y="1194816"/>
                  </a:cubicBezTo>
                  <a:cubicBezTo>
                    <a:pt x="2389632" y="1854708"/>
                    <a:pt x="1854708" y="2389632"/>
                    <a:pt x="1194816" y="2389632"/>
                  </a:cubicBezTo>
                  <a:cubicBezTo>
                    <a:pt x="534924" y="2389632"/>
                    <a:pt x="0" y="1854708"/>
                    <a:pt x="0" y="1194816"/>
                  </a:cubicBez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23414" cy="2423414"/>
            </a:xfrm>
            <a:custGeom>
              <a:avLst/>
              <a:gdLst/>
              <a:ahLst/>
              <a:cxnLst/>
              <a:rect r="r" b="b" t="t" l="l"/>
              <a:pathLst>
                <a:path h="2423414" w="2423414">
                  <a:moveTo>
                    <a:pt x="0" y="1211707"/>
                  </a:moveTo>
                  <a:cubicBezTo>
                    <a:pt x="0" y="542544"/>
                    <a:pt x="542544" y="0"/>
                    <a:pt x="1211707" y="0"/>
                  </a:cubicBezTo>
                  <a:lnTo>
                    <a:pt x="1211707" y="16891"/>
                  </a:lnTo>
                  <a:lnTo>
                    <a:pt x="1211707" y="0"/>
                  </a:lnTo>
                  <a:cubicBezTo>
                    <a:pt x="1880997" y="0"/>
                    <a:pt x="2423414" y="542544"/>
                    <a:pt x="2423414" y="1211707"/>
                  </a:cubicBezTo>
                  <a:lnTo>
                    <a:pt x="2406523" y="1211707"/>
                  </a:lnTo>
                  <a:lnTo>
                    <a:pt x="2423414" y="1211707"/>
                  </a:lnTo>
                  <a:cubicBezTo>
                    <a:pt x="2423414" y="1880997"/>
                    <a:pt x="1880870" y="2423414"/>
                    <a:pt x="1211707" y="2423414"/>
                  </a:cubicBezTo>
                  <a:lnTo>
                    <a:pt x="1211707" y="2406523"/>
                  </a:lnTo>
                  <a:lnTo>
                    <a:pt x="1211707" y="2423414"/>
                  </a:lnTo>
                  <a:cubicBezTo>
                    <a:pt x="542544" y="2423541"/>
                    <a:pt x="0" y="1880997"/>
                    <a:pt x="0" y="1211707"/>
                  </a:cubicBezTo>
                  <a:lnTo>
                    <a:pt x="16891" y="1211707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0" y="1211707"/>
                  </a:lnTo>
                  <a:moveTo>
                    <a:pt x="33909" y="1211707"/>
                  </a:moveTo>
                  <a:cubicBezTo>
                    <a:pt x="33909" y="1221105"/>
                    <a:pt x="26289" y="1228598"/>
                    <a:pt x="17018" y="1228598"/>
                  </a:cubicBezTo>
                  <a:cubicBezTo>
                    <a:pt x="7747" y="1228598"/>
                    <a:pt x="0" y="1221105"/>
                    <a:pt x="0" y="1211707"/>
                  </a:cubicBezTo>
                  <a:cubicBezTo>
                    <a:pt x="0" y="1202309"/>
                    <a:pt x="7620" y="1194816"/>
                    <a:pt x="16891" y="1194816"/>
                  </a:cubicBezTo>
                  <a:cubicBezTo>
                    <a:pt x="26162" y="1194816"/>
                    <a:pt x="33782" y="1202436"/>
                    <a:pt x="33782" y="1211707"/>
                  </a:cubicBezTo>
                  <a:cubicBezTo>
                    <a:pt x="33782" y="1862201"/>
                    <a:pt x="561086" y="2389632"/>
                    <a:pt x="1211707" y="2389632"/>
                  </a:cubicBezTo>
                  <a:cubicBezTo>
                    <a:pt x="1862201" y="2389632"/>
                    <a:pt x="2389632" y="1862328"/>
                    <a:pt x="2389632" y="1211707"/>
                  </a:cubicBezTo>
                  <a:cubicBezTo>
                    <a:pt x="2389632" y="561213"/>
                    <a:pt x="1862328" y="33782"/>
                    <a:pt x="1211707" y="33782"/>
                  </a:cubicBezTo>
                  <a:lnTo>
                    <a:pt x="1211707" y="16891"/>
                  </a:lnTo>
                  <a:lnTo>
                    <a:pt x="1211707" y="33909"/>
                  </a:lnTo>
                  <a:cubicBezTo>
                    <a:pt x="561213" y="33909"/>
                    <a:pt x="33909" y="561213"/>
                    <a:pt x="33909" y="1211707"/>
                  </a:cubicBez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09760" y="3950208"/>
            <a:ext cx="7918704" cy="2048256"/>
            <a:chOff x="0" y="0"/>
            <a:chExt cx="10558272" cy="2731008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73152"/>
              <a:ext cx="2389632" cy="2389632"/>
              <a:chOff x="0" y="0"/>
              <a:chExt cx="2389632" cy="238963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389632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389632">
                    <a:moveTo>
                      <a:pt x="0" y="0"/>
                    </a:moveTo>
                    <a:lnTo>
                      <a:pt x="2389632" y="0"/>
                    </a:lnTo>
                    <a:lnTo>
                      <a:pt x="2389632" y="2389632"/>
                    </a:lnTo>
                    <a:lnTo>
                      <a:pt x="0" y="2389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  <p:sp>
            <p:nvSpPr>
              <p:cNvPr name="TextBox 60" id="60"/>
              <p:cNvSpPr txBox="true"/>
              <p:nvPr/>
            </p:nvSpPr>
            <p:spPr>
              <a:xfrm>
                <a:off x="0" y="-76200"/>
                <a:ext cx="2389632" cy="246583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2755392" y="0"/>
              <a:ext cx="7802880" cy="829056"/>
              <a:chOff x="0" y="0"/>
              <a:chExt cx="7802880" cy="829056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780288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3388" r="0" b="-133388"/>
                </a:stretch>
              </a:blipFill>
            </p:spPr>
            <p:txBody>
              <a:bodyPr/>
              <a:p/>
            </p:txBody>
          </p:sp>
          <p:sp>
            <p:nvSpPr>
              <p:cNvPr name="TextBox 63" id="63"/>
              <p:cNvSpPr txBox="true"/>
              <p:nvPr/>
            </p:nvSpPr>
            <p:spPr>
              <a:xfrm>
                <a:off x="0" y="-57150"/>
                <a:ext cx="7802880" cy="88620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t>Pranav Sharma</a:t>
                </a: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2755392" y="877824"/>
              <a:ext cx="7802880" cy="633984"/>
              <a:chOff x="0" y="0"/>
              <a:chExt cx="7802880" cy="63398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780288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9815" r="0" b="-189815"/>
                </a:stretch>
              </a:blipFill>
            </p:spPr>
            <p:txBody>
              <a:bodyPr/>
              <a:p/>
            </p:txBody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780288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i="true">
                    <a:solidFill>
                      <a:srgbClr val="0D9488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Data Scientist</a:t>
                </a: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2755392" y="1609344"/>
              <a:ext cx="7802880" cy="1121664"/>
              <a:chOff x="0" y="0"/>
              <a:chExt cx="7802880" cy="1121664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780288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5548" r="0" b="-85548"/>
                </a:stretch>
              </a:blipFill>
            </p:spPr>
            <p:txBody>
              <a:bodyPr/>
              <a:p/>
            </p:txBody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7802880" cy="11597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Skills: Data preprocessing, EDA</a:t>
                </a:r>
              </a:p>
            </p:txBody>
          </p:sp>
        </p:grpSp>
      </p:grpSp>
      <p:grpSp>
        <p:nvGrpSpPr>
          <p:cNvPr name="Group 70" id="70"/>
          <p:cNvGrpSpPr/>
          <p:nvPr/>
        </p:nvGrpSpPr>
        <p:grpSpPr>
          <a:xfrm rot="0">
            <a:off x="446542" y="6504823"/>
            <a:ext cx="8653839" cy="2837338"/>
            <a:chOff x="0" y="0"/>
            <a:chExt cx="11258931" cy="36914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722" y="16891"/>
              <a:ext cx="11225398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225398">
                  <a:moveTo>
                    <a:pt x="0" y="0"/>
                  </a:moveTo>
                  <a:lnTo>
                    <a:pt x="11225399" y="0"/>
                  </a:lnTo>
                  <a:lnTo>
                    <a:pt x="1122539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5884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1258842">
                  <a:moveTo>
                    <a:pt x="16722" y="0"/>
                  </a:moveTo>
                  <a:lnTo>
                    <a:pt x="11242121" y="0"/>
                  </a:lnTo>
                  <a:cubicBezTo>
                    <a:pt x="11251425" y="0"/>
                    <a:pt x="11258842" y="7620"/>
                    <a:pt x="11258842" y="16891"/>
                  </a:cubicBezTo>
                  <a:lnTo>
                    <a:pt x="11258842" y="3674491"/>
                  </a:lnTo>
                  <a:cubicBezTo>
                    <a:pt x="11258842" y="3683889"/>
                    <a:pt x="11251299" y="3691382"/>
                    <a:pt x="11242121" y="3691382"/>
                  </a:cubicBezTo>
                  <a:lnTo>
                    <a:pt x="16722" y="3691382"/>
                  </a:lnTo>
                  <a:cubicBezTo>
                    <a:pt x="7418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544" y="0"/>
                    <a:pt x="16722" y="0"/>
                  </a:cubicBezTo>
                  <a:moveTo>
                    <a:pt x="16722" y="33909"/>
                  </a:moveTo>
                  <a:lnTo>
                    <a:pt x="16722" y="16891"/>
                  </a:lnTo>
                  <a:lnTo>
                    <a:pt x="33571" y="16891"/>
                  </a:lnTo>
                  <a:lnTo>
                    <a:pt x="33571" y="3674491"/>
                  </a:lnTo>
                  <a:lnTo>
                    <a:pt x="16722" y="3674491"/>
                  </a:lnTo>
                  <a:lnTo>
                    <a:pt x="16722" y="3657600"/>
                  </a:lnTo>
                  <a:lnTo>
                    <a:pt x="11242121" y="3657600"/>
                  </a:lnTo>
                  <a:lnTo>
                    <a:pt x="11242121" y="3674491"/>
                  </a:lnTo>
                  <a:lnTo>
                    <a:pt x="11225398" y="3674491"/>
                  </a:lnTo>
                  <a:lnTo>
                    <a:pt x="11225398" y="16891"/>
                  </a:lnTo>
                  <a:lnTo>
                    <a:pt x="11242121" y="16891"/>
                  </a:lnTo>
                  <a:lnTo>
                    <a:pt x="11242121" y="33909"/>
                  </a:lnTo>
                  <a:lnTo>
                    <a:pt x="16722" y="3390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731520" y="6972516"/>
            <a:ext cx="7989199" cy="2127194"/>
            <a:chOff x="0" y="0"/>
            <a:chExt cx="10652265" cy="2836259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77064" y="77064"/>
              <a:ext cx="2423503" cy="2423503"/>
              <a:chOff x="0" y="0"/>
              <a:chExt cx="2423503" cy="2423503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16891" y="16891"/>
                <a:ext cx="2389632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389632">
                    <a:moveTo>
                      <a:pt x="0" y="1194816"/>
                    </a:moveTo>
                    <a:cubicBezTo>
                      <a:pt x="0" y="534924"/>
                      <a:pt x="534924" y="0"/>
                      <a:pt x="1194816" y="0"/>
                    </a:cubicBezTo>
                    <a:cubicBezTo>
                      <a:pt x="1854708" y="0"/>
                      <a:pt x="2389632" y="534924"/>
                      <a:pt x="2389632" y="1194816"/>
                    </a:cubicBezTo>
                    <a:cubicBezTo>
                      <a:pt x="2389632" y="1854708"/>
                      <a:pt x="1854708" y="2389632"/>
                      <a:pt x="1194816" y="2389632"/>
                    </a:cubicBezTo>
                    <a:cubicBezTo>
                      <a:pt x="534924" y="2389632"/>
                      <a:pt x="0" y="1854708"/>
                      <a:pt x="0" y="1194816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2423414" cy="2423414"/>
              </a:xfrm>
              <a:custGeom>
                <a:avLst/>
                <a:gdLst/>
                <a:ahLst/>
                <a:cxnLst/>
                <a:rect r="r" b="b" t="t" l="l"/>
                <a:pathLst>
                  <a:path h="2423414" w="2423414">
                    <a:moveTo>
                      <a:pt x="0" y="1211707"/>
                    </a:moveTo>
                    <a:cubicBezTo>
                      <a:pt x="0" y="542544"/>
                      <a:pt x="542544" y="0"/>
                      <a:pt x="1211707" y="0"/>
                    </a:cubicBezTo>
                    <a:lnTo>
                      <a:pt x="1211707" y="16891"/>
                    </a:lnTo>
                    <a:lnTo>
                      <a:pt x="1211707" y="0"/>
                    </a:lnTo>
                    <a:cubicBezTo>
                      <a:pt x="1880997" y="0"/>
                      <a:pt x="2423414" y="542544"/>
                      <a:pt x="2423414" y="1211707"/>
                    </a:cubicBezTo>
                    <a:lnTo>
                      <a:pt x="2406523" y="1211707"/>
                    </a:lnTo>
                    <a:lnTo>
                      <a:pt x="2423414" y="1211707"/>
                    </a:lnTo>
                    <a:cubicBezTo>
                      <a:pt x="2423414" y="1880997"/>
                      <a:pt x="1880870" y="2423414"/>
                      <a:pt x="1211707" y="2423414"/>
                    </a:cubicBezTo>
                    <a:lnTo>
                      <a:pt x="1211707" y="2406523"/>
                    </a:lnTo>
                    <a:lnTo>
                      <a:pt x="1211707" y="2423414"/>
                    </a:lnTo>
                    <a:cubicBezTo>
                      <a:pt x="542544" y="2423541"/>
                      <a:pt x="0" y="1880997"/>
                      <a:pt x="0" y="1211707"/>
                    </a:cubicBezTo>
                    <a:lnTo>
                      <a:pt x="16891" y="1211707"/>
                    </a:lnTo>
                    <a:lnTo>
                      <a:pt x="33909" y="1211707"/>
                    </a:lnTo>
                    <a:lnTo>
                      <a:pt x="16891" y="1211707"/>
                    </a:lnTo>
                    <a:lnTo>
                      <a:pt x="0" y="1211707"/>
                    </a:lnTo>
                    <a:moveTo>
                      <a:pt x="33909" y="1211707"/>
                    </a:moveTo>
                    <a:cubicBezTo>
                      <a:pt x="33909" y="1221105"/>
                      <a:pt x="26289" y="1228598"/>
                      <a:pt x="17018" y="1228598"/>
                    </a:cubicBezTo>
                    <a:cubicBezTo>
                      <a:pt x="7747" y="1228598"/>
                      <a:pt x="0" y="1221105"/>
                      <a:pt x="0" y="1211707"/>
                    </a:cubicBezTo>
                    <a:cubicBezTo>
                      <a:pt x="0" y="1202309"/>
                      <a:pt x="7620" y="1194816"/>
                      <a:pt x="16891" y="1194816"/>
                    </a:cubicBezTo>
                    <a:cubicBezTo>
                      <a:pt x="26162" y="1194816"/>
                      <a:pt x="33782" y="1202436"/>
                      <a:pt x="33782" y="1211707"/>
                    </a:cubicBezTo>
                    <a:cubicBezTo>
                      <a:pt x="33782" y="1862201"/>
                      <a:pt x="561086" y="2389632"/>
                      <a:pt x="1211707" y="2389632"/>
                    </a:cubicBezTo>
                    <a:cubicBezTo>
                      <a:pt x="1862201" y="2389632"/>
                      <a:pt x="2389632" y="1862328"/>
                      <a:pt x="2389632" y="1211707"/>
                    </a:cubicBezTo>
                    <a:cubicBezTo>
                      <a:pt x="2389632" y="561213"/>
                      <a:pt x="1862328" y="33782"/>
                      <a:pt x="1211707" y="33782"/>
                    </a:cubicBezTo>
                    <a:lnTo>
                      <a:pt x="1211707" y="16891"/>
                    </a:lnTo>
                    <a:lnTo>
                      <a:pt x="1211707" y="33909"/>
                    </a:lnTo>
                    <a:cubicBezTo>
                      <a:pt x="561213" y="33909"/>
                      <a:pt x="33909" y="561213"/>
                      <a:pt x="33909" y="1211707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  <p:txBody>
              <a:bodyPr/>
              <a:p/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0" y="0"/>
              <a:ext cx="2577630" cy="2577630"/>
              <a:chOff x="0" y="0"/>
              <a:chExt cx="2389632" cy="2389632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389632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389632">
                    <a:moveTo>
                      <a:pt x="0" y="0"/>
                    </a:moveTo>
                    <a:lnTo>
                      <a:pt x="2389632" y="0"/>
                    </a:lnTo>
                    <a:lnTo>
                      <a:pt x="2389632" y="2389632"/>
                    </a:lnTo>
                    <a:lnTo>
                      <a:pt x="0" y="2389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  <p:sp>
            <p:nvSpPr>
              <p:cNvPr name="TextBox 79" id="79"/>
              <p:cNvSpPr txBox="true"/>
              <p:nvPr/>
            </p:nvSpPr>
            <p:spPr>
              <a:xfrm>
                <a:off x="0" y="-76200"/>
                <a:ext cx="2389632" cy="246583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2849385" y="105251"/>
              <a:ext cx="7802880" cy="829056"/>
              <a:chOff x="0" y="0"/>
              <a:chExt cx="7802880" cy="829056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780288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3388" r="0" b="-133388"/>
                </a:stretch>
              </a:blipFill>
            </p:spPr>
            <p:txBody>
              <a:bodyPr/>
              <a:p/>
            </p:txBody>
          </p:sp>
          <p:sp>
            <p:nvSpPr>
              <p:cNvPr name="TextBox 82" id="82"/>
              <p:cNvSpPr txBox="true"/>
              <p:nvPr/>
            </p:nvSpPr>
            <p:spPr>
              <a:xfrm>
                <a:off x="0" y="-57150"/>
                <a:ext cx="7802880" cy="88620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t>Abhay Rajpal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2849385" y="983075"/>
              <a:ext cx="7802880" cy="633984"/>
              <a:chOff x="0" y="0"/>
              <a:chExt cx="7802880" cy="633984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780288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9815" r="0" b="-189815"/>
                </a:stretch>
              </a:blipFill>
            </p:spPr>
            <p:txBody>
              <a:bodyPr/>
              <a:p/>
            </p:txBody>
          </p:sp>
          <p:sp>
            <p:nvSpPr>
              <p:cNvPr name="TextBox 85" id="85"/>
              <p:cNvSpPr txBox="true"/>
              <p:nvPr/>
            </p:nvSpPr>
            <p:spPr>
              <a:xfrm>
                <a:off x="0" y="-38100"/>
                <a:ext cx="780288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i="true">
                    <a:solidFill>
                      <a:srgbClr val="0D9488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Backend / Interface Developer</a:t>
                </a: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2849385" y="1714595"/>
              <a:ext cx="7802880" cy="1121664"/>
              <a:chOff x="0" y="0"/>
              <a:chExt cx="7802880" cy="1121664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780288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5548" r="0" b="-85548"/>
                </a:stretch>
              </a:blipFill>
            </p:spPr>
            <p:txBody>
              <a:bodyPr/>
              <a:p/>
            </p:txBody>
          </p:sp>
          <p:sp>
            <p:nvSpPr>
              <p:cNvPr name="TextBox 88" id="88"/>
              <p:cNvSpPr txBox="true"/>
              <p:nvPr/>
            </p:nvSpPr>
            <p:spPr>
              <a:xfrm>
                <a:off x="0" y="-38100"/>
                <a:ext cx="7802880" cy="11597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Skills: Flask, FastAPI, Deployment</a:t>
                </a:r>
              </a:p>
            </p:txBody>
          </p:sp>
        </p:grpSp>
      </p:grpSp>
      <p:grpSp>
        <p:nvGrpSpPr>
          <p:cNvPr name="Group 89" id="89"/>
          <p:cNvGrpSpPr/>
          <p:nvPr/>
        </p:nvGrpSpPr>
        <p:grpSpPr>
          <a:xfrm rot="0">
            <a:off x="9198869" y="6504823"/>
            <a:ext cx="8717666" cy="2837338"/>
            <a:chOff x="0" y="0"/>
            <a:chExt cx="11372431" cy="37013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936"/>
              <a:ext cx="11338560" cy="3667422"/>
            </a:xfrm>
            <a:custGeom>
              <a:avLst/>
              <a:gdLst/>
              <a:ahLst/>
              <a:cxnLst/>
              <a:rect r="r" b="b" t="t" l="l"/>
              <a:pathLst>
                <a:path h="366742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667423"/>
                  </a:lnTo>
                  <a:lnTo>
                    <a:pt x="0" y="3667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372342" cy="3701295"/>
            </a:xfrm>
            <a:custGeom>
              <a:avLst/>
              <a:gdLst/>
              <a:ahLst/>
              <a:cxnLst/>
              <a:rect r="r" b="b" t="t" l="l"/>
              <a:pathLst>
                <a:path h="3701295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40"/>
                    <a:pt x="11372342" y="16936"/>
                  </a:cubicBezTo>
                  <a:lnTo>
                    <a:pt x="11372342" y="3684359"/>
                  </a:lnTo>
                  <a:cubicBezTo>
                    <a:pt x="11372342" y="3693782"/>
                    <a:pt x="11364722" y="3701295"/>
                    <a:pt x="11355451" y="3701295"/>
                  </a:cubicBezTo>
                  <a:lnTo>
                    <a:pt x="16891" y="3701295"/>
                  </a:lnTo>
                  <a:cubicBezTo>
                    <a:pt x="7493" y="3701295"/>
                    <a:pt x="0" y="3693655"/>
                    <a:pt x="0" y="3684359"/>
                  </a:cubicBezTo>
                  <a:lnTo>
                    <a:pt x="0" y="16936"/>
                  </a:lnTo>
                  <a:cubicBezTo>
                    <a:pt x="0" y="7640"/>
                    <a:pt x="7620" y="0"/>
                    <a:pt x="16891" y="0"/>
                  </a:cubicBezTo>
                  <a:moveTo>
                    <a:pt x="16891" y="34000"/>
                  </a:moveTo>
                  <a:lnTo>
                    <a:pt x="16891" y="16936"/>
                  </a:lnTo>
                  <a:lnTo>
                    <a:pt x="33909" y="16936"/>
                  </a:lnTo>
                  <a:lnTo>
                    <a:pt x="33909" y="3684359"/>
                  </a:lnTo>
                  <a:lnTo>
                    <a:pt x="16891" y="3684359"/>
                  </a:lnTo>
                  <a:lnTo>
                    <a:pt x="16891" y="3667423"/>
                  </a:lnTo>
                  <a:lnTo>
                    <a:pt x="11355451" y="3667423"/>
                  </a:lnTo>
                  <a:lnTo>
                    <a:pt x="11355451" y="3684359"/>
                  </a:lnTo>
                  <a:lnTo>
                    <a:pt x="11338560" y="3684359"/>
                  </a:lnTo>
                  <a:lnTo>
                    <a:pt x="11338560" y="16936"/>
                  </a:lnTo>
                  <a:lnTo>
                    <a:pt x="11355451" y="16936"/>
                  </a:lnTo>
                  <a:lnTo>
                    <a:pt x="11355451" y="34000"/>
                  </a:lnTo>
                  <a:lnTo>
                    <a:pt x="16891" y="340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97063" y="7009895"/>
            <a:ext cx="1817627" cy="1817627"/>
            <a:chOff x="0" y="0"/>
            <a:chExt cx="2423503" cy="242350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389632" cy="2389632"/>
            </a:xfrm>
            <a:custGeom>
              <a:avLst/>
              <a:gdLst/>
              <a:ahLst/>
              <a:cxnLst/>
              <a:rect r="r" b="b" t="t" l="l"/>
              <a:pathLst>
                <a:path h="2389632" w="2389632">
                  <a:moveTo>
                    <a:pt x="0" y="1194816"/>
                  </a:moveTo>
                  <a:cubicBezTo>
                    <a:pt x="0" y="534924"/>
                    <a:pt x="534924" y="0"/>
                    <a:pt x="1194816" y="0"/>
                  </a:cubicBezTo>
                  <a:cubicBezTo>
                    <a:pt x="1854708" y="0"/>
                    <a:pt x="2389632" y="534924"/>
                    <a:pt x="2389632" y="1194816"/>
                  </a:cubicBezTo>
                  <a:cubicBezTo>
                    <a:pt x="2389632" y="1854708"/>
                    <a:pt x="1854708" y="2389632"/>
                    <a:pt x="1194816" y="2389632"/>
                  </a:cubicBezTo>
                  <a:cubicBezTo>
                    <a:pt x="534924" y="2389632"/>
                    <a:pt x="0" y="1854708"/>
                    <a:pt x="0" y="1194816"/>
                  </a:cubicBez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23414" cy="2423414"/>
            </a:xfrm>
            <a:custGeom>
              <a:avLst/>
              <a:gdLst/>
              <a:ahLst/>
              <a:cxnLst/>
              <a:rect r="r" b="b" t="t" l="l"/>
              <a:pathLst>
                <a:path h="2423414" w="2423414">
                  <a:moveTo>
                    <a:pt x="0" y="1211707"/>
                  </a:moveTo>
                  <a:cubicBezTo>
                    <a:pt x="0" y="542544"/>
                    <a:pt x="542544" y="0"/>
                    <a:pt x="1211707" y="0"/>
                  </a:cubicBezTo>
                  <a:lnTo>
                    <a:pt x="1211707" y="16891"/>
                  </a:lnTo>
                  <a:lnTo>
                    <a:pt x="1211707" y="0"/>
                  </a:lnTo>
                  <a:cubicBezTo>
                    <a:pt x="1880997" y="0"/>
                    <a:pt x="2423414" y="542544"/>
                    <a:pt x="2423414" y="1211707"/>
                  </a:cubicBezTo>
                  <a:lnTo>
                    <a:pt x="2406523" y="1211707"/>
                  </a:lnTo>
                  <a:lnTo>
                    <a:pt x="2423414" y="1211707"/>
                  </a:lnTo>
                  <a:cubicBezTo>
                    <a:pt x="2423414" y="1880997"/>
                    <a:pt x="1880870" y="2423414"/>
                    <a:pt x="1211707" y="2423414"/>
                  </a:cubicBezTo>
                  <a:lnTo>
                    <a:pt x="1211707" y="2406523"/>
                  </a:lnTo>
                  <a:lnTo>
                    <a:pt x="1211707" y="2423414"/>
                  </a:lnTo>
                  <a:cubicBezTo>
                    <a:pt x="542544" y="2423541"/>
                    <a:pt x="0" y="1880997"/>
                    <a:pt x="0" y="1211707"/>
                  </a:cubicBezTo>
                  <a:lnTo>
                    <a:pt x="16891" y="1211707"/>
                  </a:lnTo>
                  <a:lnTo>
                    <a:pt x="33909" y="1211707"/>
                  </a:lnTo>
                  <a:lnTo>
                    <a:pt x="16891" y="1211707"/>
                  </a:lnTo>
                  <a:lnTo>
                    <a:pt x="0" y="1211707"/>
                  </a:lnTo>
                  <a:moveTo>
                    <a:pt x="33909" y="1211707"/>
                  </a:moveTo>
                  <a:cubicBezTo>
                    <a:pt x="33909" y="1221105"/>
                    <a:pt x="26289" y="1228598"/>
                    <a:pt x="17018" y="1228598"/>
                  </a:cubicBezTo>
                  <a:cubicBezTo>
                    <a:pt x="7747" y="1228598"/>
                    <a:pt x="0" y="1221105"/>
                    <a:pt x="0" y="1211707"/>
                  </a:cubicBezTo>
                  <a:cubicBezTo>
                    <a:pt x="0" y="1202309"/>
                    <a:pt x="7620" y="1194816"/>
                    <a:pt x="16891" y="1194816"/>
                  </a:cubicBezTo>
                  <a:cubicBezTo>
                    <a:pt x="26162" y="1194816"/>
                    <a:pt x="33782" y="1202436"/>
                    <a:pt x="33782" y="1211707"/>
                  </a:cubicBezTo>
                  <a:cubicBezTo>
                    <a:pt x="33782" y="1862201"/>
                    <a:pt x="561086" y="2389632"/>
                    <a:pt x="1211707" y="2389632"/>
                  </a:cubicBezTo>
                  <a:cubicBezTo>
                    <a:pt x="1862201" y="2389632"/>
                    <a:pt x="2389632" y="1862328"/>
                    <a:pt x="2389632" y="1211707"/>
                  </a:cubicBezTo>
                  <a:cubicBezTo>
                    <a:pt x="2389632" y="561213"/>
                    <a:pt x="1862328" y="33782"/>
                    <a:pt x="1211707" y="33782"/>
                  </a:cubicBezTo>
                  <a:lnTo>
                    <a:pt x="1211707" y="16891"/>
                  </a:lnTo>
                  <a:lnTo>
                    <a:pt x="1211707" y="33909"/>
                  </a:lnTo>
                  <a:cubicBezTo>
                    <a:pt x="561213" y="33909"/>
                    <a:pt x="33909" y="561213"/>
                    <a:pt x="33909" y="1211707"/>
                  </a:cubicBez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97063" y="7011985"/>
            <a:ext cx="7918704" cy="2048256"/>
            <a:chOff x="0" y="0"/>
            <a:chExt cx="10558272" cy="2731008"/>
          </a:xfrm>
        </p:grpSpPr>
        <p:grpSp>
          <p:nvGrpSpPr>
            <p:cNvPr name="Group 96" id="96"/>
            <p:cNvGrpSpPr/>
            <p:nvPr/>
          </p:nvGrpSpPr>
          <p:grpSpPr>
            <a:xfrm rot="0">
              <a:off x="0" y="73152"/>
              <a:ext cx="2389632" cy="2389632"/>
              <a:chOff x="0" y="0"/>
              <a:chExt cx="2389632" cy="2389632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2389632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389632">
                    <a:moveTo>
                      <a:pt x="0" y="0"/>
                    </a:moveTo>
                    <a:lnTo>
                      <a:pt x="2389632" y="0"/>
                    </a:lnTo>
                    <a:lnTo>
                      <a:pt x="2389632" y="2389632"/>
                    </a:lnTo>
                    <a:lnTo>
                      <a:pt x="0" y="2389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  <p:sp>
            <p:nvSpPr>
              <p:cNvPr name="TextBox 98" id="98"/>
              <p:cNvSpPr txBox="true"/>
              <p:nvPr/>
            </p:nvSpPr>
            <p:spPr>
              <a:xfrm>
                <a:off x="0" y="-76200"/>
                <a:ext cx="2389632" cy="246583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2755392" y="0"/>
              <a:ext cx="7802880" cy="829056"/>
              <a:chOff x="0" y="0"/>
              <a:chExt cx="7802880" cy="829056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780288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3388" r="0" b="-133388"/>
                </a:stretch>
              </a:blipFill>
            </p:spPr>
            <p:txBody>
              <a:bodyPr/>
              <a:p/>
            </p:txBody>
          </p:sp>
          <p:sp>
            <p:nvSpPr>
              <p:cNvPr name="TextBox 101" id="101"/>
              <p:cNvSpPr txBox="true"/>
              <p:nvPr/>
            </p:nvSpPr>
            <p:spPr>
              <a:xfrm>
                <a:off x="0" y="-57150"/>
                <a:ext cx="7802880" cy="88620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t>Abhishrut Kaushik</a:t>
                </a:r>
              </a:p>
            </p:txBody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2755392" y="877824"/>
              <a:ext cx="7802880" cy="633984"/>
              <a:chOff x="0" y="0"/>
              <a:chExt cx="7802880" cy="633984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780288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9815" r="0" b="-189815"/>
                </a:stretch>
              </a:blipFill>
            </p:spPr>
            <p:txBody>
              <a:bodyPr/>
              <a:p/>
            </p:txBody>
          </p:sp>
          <p:sp>
            <p:nvSpPr>
              <p:cNvPr name="TextBox 104" id="104"/>
              <p:cNvSpPr txBox="true"/>
              <p:nvPr/>
            </p:nvSpPr>
            <p:spPr>
              <a:xfrm>
                <a:off x="0" y="-38100"/>
                <a:ext cx="780288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i="true">
                    <a:solidFill>
                      <a:srgbClr val="0D9488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Domain Expert / Researcher</a:t>
                </a:r>
              </a:p>
            </p:txBody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2755392" y="1609344"/>
              <a:ext cx="7802880" cy="1121664"/>
              <a:chOff x="0" y="0"/>
              <a:chExt cx="7802880" cy="1121664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780288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5548" r="0" b="-85548"/>
                </a:stretch>
              </a:blipFill>
            </p:spPr>
            <p:txBody>
              <a:bodyPr/>
              <a:p/>
            </p:txBody>
          </p:sp>
          <p:sp>
            <p:nvSpPr>
              <p:cNvPr name="TextBox 107" id="107"/>
              <p:cNvSpPr txBox="true"/>
              <p:nvPr/>
            </p:nvSpPr>
            <p:spPr>
              <a:xfrm>
                <a:off x="0" y="-38100"/>
                <a:ext cx="7802880" cy="11597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Skills: Medical knowledge, Literature review</a:t>
                </a:r>
              </a:p>
            </p:txBody>
          </p:sp>
        </p:grpSp>
      </p:grpSp>
      <p:grpSp>
        <p:nvGrpSpPr>
          <p:cNvPr name="Group 108" id="108"/>
          <p:cNvGrpSpPr/>
          <p:nvPr/>
        </p:nvGrpSpPr>
        <p:grpSpPr>
          <a:xfrm rot="0">
            <a:off x="15489237" y="160468"/>
            <a:ext cx="2433003" cy="1028252"/>
            <a:chOff x="0" y="0"/>
            <a:chExt cx="3244004" cy="1371003"/>
          </a:xfrm>
        </p:grpSpPr>
        <p:grpSp>
          <p:nvGrpSpPr>
            <p:cNvPr name="Group 109" id="109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111" id="111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113" id="113"/>
          <p:cNvSpPr/>
          <p:nvPr/>
        </p:nvSpPr>
        <p:spPr>
          <a:xfrm flipH="false" flipV="false" rot="0">
            <a:off x="402923" y="40929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7031" y="-12697"/>
            <a:ext cx="18203675" cy="1342139"/>
            <a:chOff x="0" y="0"/>
            <a:chExt cx="24271567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237697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237697">
                  <a:moveTo>
                    <a:pt x="0" y="0"/>
                  </a:moveTo>
                  <a:lnTo>
                    <a:pt x="24237697" y="0"/>
                  </a:lnTo>
                  <a:lnTo>
                    <a:pt x="24237697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71478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271478">
                  <a:moveTo>
                    <a:pt x="16891" y="0"/>
                  </a:moveTo>
                  <a:lnTo>
                    <a:pt x="24254588" y="0"/>
                  </a:lnTo>
                  <a:cubicBezTo>
                    <a:pt x="24263986" y="0"/>
                    <a:pt x="24271478" y="7620"/>
                    <a:pt x="24271478" y="16891"/>
                  </a:cubicBezTo>
                  <a:lnTo>
                    <a:pt x="24271478" y="1772539"/>
                  </a:lnTo>
                  <a:cubicBezTo>
                    <a:pt x="24271478" y="1781937"/>
                    <a:pt x="24263858" y="1789430"/>
                    <a:pt x="24254588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254588" y="1755648"/>
                  </a:lnTo>
                  <a:lnTo>
                    <a:pt x="24254588" y="1772539"/>
                  </a:lnTo>
                  <a:lnTo>
                    <a:pt x="24237697" y="1772539"/>
                  </a:lnTo>
                  <a:lnTo>
                    <a:pt x="24237697" y="16891"/>
                  </a:lnTo>
                  <a:lnTo>
                    <a:pt x="24254588" y="16891"/>
                  </a:lnTo>
                  <a:lnTo>
                    <a:pt x="24254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642621" y="155453"/>
            <a:ext cx="12984480" cy="1005840"/>
            <a:chOff x="0" y="0"/>
            <a:chExt cx="173126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534" r="0" b="-201534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7312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Additional Information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316736"/>
            <a:ext cx="17190720" cy="475488"/>
            <a:chOff x="0" y="0"/>
            <a:chExt cx="22920960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20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Any further details about your solution, process, or findings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697" y="9899399"/>
            <a:ext cx="18313403" cy="400307"/>
            <a:chOff x="0" y="0"/>
            <a:chExt cx="24417871" cy="533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499872"/>
            </a:xfrm>
            <a:custGeom>
              <a:avLst/>
              <a:gdLst/>
              <a:ahLst/>
              <a:cxnLst/>
              <a:rect r="r" b="b" t="t" l="l"/>
              <a:pathLst>
                <a:path h="4998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533656"/>
            </a:xfrm>
            <a:custGeom>
              <a:avLst/>
              <a:gdLst/>
              <a:ahLst/>
              <a:cxnLst/>
              <a:rect r="r" b="b" t="t" l="l"/>
              <a:pathLst>
                <a:path h="5336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16763"/>
                  </a:lnTo>
                  <a:cubicBezTo>
                    <a:pt x="24417782" y="526161"/>
                    <a:pt x="24410163" y="533654"/>
                    <a:pt x="24400890" y="533654"/>
                  </a:cubicBezTo>
                  <a:lnTo>
                    <a:pt x="16891" y="533654"/>
                  </a:lnTo>
                  <a:cubicBezTo>
                    <a:pt x="7620" y="533781"/>
                    <a:pt x="0" y="526161"/>
                    <a:pt x="0" y="516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6763"/>
                  </a:lnTo>
                  <a:lnTo>
                    <a:pt x="16891" y="516763"/>
                  </a:lnTo>
                  <a:lnTo>
                    <a:pt x="16891" y="499872"/>
                  </a:lnTo>
                  <a:lnTo>
                    <a:pt x="24400890" y="499872"/>
                  </a:lnTo>
                  <a:lnTo>
                    <a:pt x="24400890" y="516763"/>
                  </a:lnTo>
                  <a:lnTo>
                    <a:pt x="24384000" y="5167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9912096"/>
            <a:ext cx="10972800" cy="365760"/>
            <a:chOff x="0" y="0"/>
            <a:chExt cx="146304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AesCode Nexus  ·  Hackathon Round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0" y="9912096"/>
            <a:ext cx="4572000" cy="365760"/>
            <a:chOff x="0" y="0"/>
            <a:chExt cx="609600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0960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t>Team: [Add Team Name]  |  ID: [Add Team ID]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3063" y="1925831"/>
            <a:ext cx="5603243" cy="6440744"/>
            <a:chOff x="0" y="0"/>
            <a:chExt cx="7470991" cy="85876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5396"/>
              <a:ext cx="7437120" cy="8556786"/>
            </a:xfrm>
            <a:custGeom>
              <a:avLst/>
              <a:gdLst/>
              <a:ahLst/>
              <a:cxnLst/>
              <a:rect r="r" b="b" t="t" l="l"/>
              <a:pathLst>
                <a:path h="8556786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556786"/>
                  </a:lnTo>
                  <a:lnTo>
                    <a:pt x="0" y="85567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70901" cy="8587577"/>
            </a:xfrm>
            <a:custGeom>
              <a:avLst/>
              <a:gdLst/>
              <a:ahLst/>
              <a:cxnLst/>
              <a:rect r="r" b="b" t="t" l="l"/>
              <a:pathLst>
                <a:path h="8587577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6945"/>
                    <a:pt x="7470901" y="15396"/>
                  </a:cubicBezTo>
                  <a:lnTo>
                    <a:pt x="7470901" y="8572182"/>
                  </a:lnTo>
                  <a:cubicBezTo>
                    <a:pt x="7470901" y="8580748"/>
                    <a:pt x="7463282" y="8587577"/>
                    <a:pt x="7454011" y="8587577"/>
                  </a:cubicBezTo>
                  <a:lnTo>
                    <a:pt x="16891" y="8587577"/>
                  </a:lnTo>
                  <a:cubicBezTo>
                    <a:pt x="7493" y="8587577"/>
                    <a:pt x="0" y="8580632"/>
                    <a:pt x="0" y="8572182"/>
                  </a:cubicBezTo>
                  <a:lnTo>
                    <a:pt x="0" y="15396"/>
                  </a:lnTo>
                  <a:cubicBezTo>
                    <a:pt x="0" y="6945"/>
                    <a:pt x="7620" y="0"/>
                    <a:pt x="16891" y="0"/>
                  </a:cubicBezTo>
                  <a:moveTo>
                    <a:pt x="16891" y="30907"/>
                  </a:moveTo>
                  <a:lnTo>
                    <a:pt x="16891" y="15396"/>
                  </a:lnTo>
                  <a:lnTo>
                    <a:pt x="33909" y="15396"/>
                  </a:lnTo>
                  <a:lnTo>
                    <a:pt x="33909" y="8572182"/>
                  </a:lnTo>
                  <a:lnTo>
                    <a:pt x="16891" y="8572182"/>
                  </a:lnTo>
                  <a:lnTo>
                    <a:pt x="16891" y="8556786"/>
                  </a:lnTo>
                  <a:lnTo>
                    <a:pt x="7454011" y="8556786"/>
                  </a:lnTo>
                  <a:lnTo>
                    <a:pt x="7454011" y="8572182"/>
                  </a:lnTo>
                  <a:lnTo>
                    <a:pt x="7437120" y="8572182"/>
                  </a:lnTo>
                  <a:lnTo>
                    <a:pt x="7437120" y="15396"/>
                  </a:lnTo>
                  <a:lnTo>
                    <a:pt x="7454011" y="15396"/>
                  </a:lnTo>
                  <a:lnTo>
                    <a:pt x="7454011" y="30907"/>
                  </a:lnTo>
                  <a:lnTo>
                    <a:pt x="16891" y="30907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353063" y="1925831"/>
            <a:ext cx="5603243" cy="720347"/>
            <a:chOff x="0" y="0"/>
            <a:chExt cx="747099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70901" cy="960376"/>
            </a:xfrm>
            <a:custGeom>
              <a:avLst/>
              <a:gdLst/>
              <a:ahLst/>
              <a:cxnLst/>
              <a:rect r="r" b="b" t="t" l="l"/>
              <a:pathLst>
                <a:path h="960376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943483"/>
                  </a:lnTo>
                  <a:cubicBezTo>
                    <a:pt x="7470901" y="952881"/>
                    <a:pt x="7463282" y="960374"/>
                    <a:pt x="7454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454011" y="926592"/>
                  </a:lnTo>
                  <a:lnTo>
                    <a:pt x="7454011" y="943483"/>
                  </a:lnTo>
                  <a:lnTo>
                    <a:pt x="7437120" y="943483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2064" y="2029968"/>
            <a:ext cx="5303520" cy="512064"/>
            <a:chOff x="0" y="0"/>
            <a:chExt cx="707136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REPRODUCIBILITY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5760" y="3246253"/>
            <a:ext cx="5120640" cy="2839963"/>
            <a:chOff x="0" y="0"/>
            <a:chExt cx="6827520" cy="37866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3786617"/>
            </a:xfrm>
            <a:custGeom>
              <a:avLst/>
              <a:gdLst/>
              <a:ahLst/>
              <a:cxnLst/>
              <a:rect r="r" b="b" t="t" l="l"/>
              <a:pathLst>
                <a:path h="3786617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786617"/>
                  </a:lnTo>
                  <a:lnTo>
                    <a:pt x="0" y="3786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923" t="0" r="-98923" b="-109284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6827520" cy="3891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3150"/>
                </a:lnSpc>
                <a:buFont typeface="Arial"/>
                <a:buChar char="•"/>
              </a:pPr>
              <a:r>
                <a:t>Training is scripted in train_model.py, optimize_best_model.py, and revalidate_model_search.py.</a:t>
              </a:r>
            </a:p>
            <a:p>
              <a:r>
                <a:t>Random state is fixed at 42, requirements are pinned in requirements.txt, and dataset paths point only to the provided CSV files.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33239" y="1925831"/>
            <a:ext cx="5603243" cy="6440744"/>
            <a:chOff x="0" y="0"/>
            <a:chExt cx="7470991" cy="85876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5396"/>
              <a:ext cx="7437120" cy="8556786"/>
            </a:xfrm>
            <a:custGeom>
              <a:avLst/>
              <a:gdLst/>
              <a:ahLst/>
              <a:cxnLst/>
              <a:rect r="r" b="b" t="t" l="l"/>
              <a:pathLst>
                <a:path h="8556786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556786"/>
                  </a:lnTo>
                  <a:lnTo>
                    <a:pt x="0" y="85567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70901" cy="8587577"/>
            </a:xfrm>
            <a:custGeom>
              <a:avLst/>
              <a:gdLst/>
              <a:ahLst/>
              <a:cxnLst/>
              <a:rect r="r" b="b" t="t" l="l"/>
              <a:pathLst>
                <a:path h="8587577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6945"/>
                    <a:pt x="7470901" y="15396"/>
                  </a:cubicBezTo>
                  <a:lnTo>
                    <a:pt x="7470901" y="8572182"/>
                  </a:lnTo>
                  <a:cubicBezTo>
                    <a:pt x="7470901" y="8580748"/>
                    <a:pt x="7463282" y="8587577"/>
                    <a:pt x="7454011" y="8587577"/>
                  </a:cubicBezTo>
                  <a:lnTo>
                    <a:pt x="16891" y="8587577"/>
                  </a:lnTo>
                  <a:cubicBezTo>
                    <a:pt x="7493" y="8587577"/>
                    <a:pt x="0" y="8580632"/>
                    <a:pt x="0" y="8572182"/>
                  </a:cubicBezTo>
                  <a:lnTo>
                    <a:pt x="0" y="15396"/>
                  </a:lnTo>
                  <a:cubicBezTo>
                    <a:pt x="0" y="6945"/>
                    <a:pt x="7620" y="0"/>
                    <a:pt x="16891" y="0"/>
                  </a:cubicBezTo>
                  <a:moveTo>
                    <a:pt x="16891" y="30907"/>
                  </a:moveTo>
                  <a:lnTo>
                    <a:pt x="16891" y="15396"/>
                  </a:lnTo>
                  <a:lnTo>
                    <a:pt x="33909" y="15396"/>
                  </a:lnTo>
                  <a:lnTo>
                    <a:pt x="33909" y="8572182"/>
                  </a:lnTo>
                  <a:lnTo>
                    <a:pt x="16891" y="8572182"/>
                  </a:lnTo>
                  <a:lnTo>
                    <a:pt x="16891" y="8556786"/>
                  </a:lnTo>
                  <a:lnTo>
                    <a:pt x="7454011" y="8556786"/>
                  </a:lnTo>
                  <a:lnTo>
                    <a:pt x="7454011" y="8572182"/>
                  </a:lnTo>
                  <a:lnTo>
                    <a:pt x="7437120" y="8572182"/>
                  </a:lnTo>
                  <a:lnTo>
                    <a:pt x="7437120" y="15396"/>
                  </a:lnTo>
                  <a:lnTo>
                    <a:pt x="7454011" y="15396"/>
                  </a:lnTo>
                  <a:lnTo>
                    <a:pt x="7454011" y="30907"/>
                  </a:lnTo>
                  <a:lnTo>
                    <a:pt x="16891" y="30907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33239" y="1925831"/>
            <a:ext cx="5603243" cy="720347"/>
            <a:chOff x="0" y="0"/>
            <a:chExt cx="7470991" cy="960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70901" cy="960376"/>
            </a:xfrm>
            <a:custGeom>
              <a:avLst/>
              <a:gdLst/>
              <a:ahLst/>
              <a:cxnLst/>
              <a:rect r="r" b="b" t="t" l="l"/>
              <a:pathLst>
                <a:path h="960376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943483"/>
                  </a:lnTo>
                  <a:cubicBezTo>
                    <a:pt x="7470901" y="952881"/>
                    <a:pt x="7463282" y="960374"/>
                    <a:pt x="7454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454011" y="926592"/>
                  </a:lnTo>
                  <a:lnTo>
                    <a:pt x="7454011" y="943483"/>
                  </a:lnTo>
                  <a:lnTo>
                    <a:pt x="7437120" y="943483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92240" y="2029968"/>
            <a:ext cx="5303520" cy="512064"/>
            <a:chOff x="0" y="0"/>
            <a:chExt cx="707136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🛠️  TOOLS &amp; ENVIRONMENT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333239" y="3246253"/>
            <a:ext cx="5120640" cy="2479075"/>
            <a:chOff x="0" y="0"/>
            <a:chExt cx="6827520" cy="33054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3305434"/>
            </a:xfrm>
            <a:custGeom>
              <a:avLst/>
              <a:gdLst/>
              <a:ahLst/>
              <a:cxnLst/>
              <a:rect r="r" b="b" t="t" l="l"/>
              <a:pathLst>
                <a:path h="330543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305434"/>
                  </a:lnTo>
                  <a:lnTo>
                    <a:pt x="0" y="33054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923" t="0" r="-98923" b="-13975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6827520" cy="3410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3150"/>
                </a:lnSpc>
                <a:buFont typeface="Arial"/>
                <a:buChar char="•"/>
              </a:pPr>
              <a:r>
                <a:t>Platform: local Python environment</a:t>
              </a:r>
            </a:p>
            <a:p>
              <a:r>
                <a:t>Compute: CPU-based final CatBoost revalidation in this environment; saved deep-learning repo artifacts used for comparison</a:t>
              </a:r>
            </a:p>
            <a:p>
              <a:r>
                <a:t>Stack: pandas, scikit-learn, CatBoost, PyTorch, Streamlit</a:t>
              </a:r>
            </a:p>
            <a:p>
              <a:r>
                <a:t>External data/APIs: none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13415" y="1925831"/>
            <a:ext cx="5603243" cy="6440744"/>
            <a:chOff x="0" y="0"/>
            <a:chExt cx="7470991" cy="85876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5396"/>
              <a:ext cx="7437120" cy="8556786"/>
            </a:xfrm>
            <a:custGeom>
              <a:avLst/>
              <a:gdLst/>
              <a:ahLst/>
              <a:cxnLst/>
              <a:rect r="r" b="b" t="t" l="l"/>
              <a:pathLst>
                <a:path h="8556786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556786"/>
                  </a:lnTo>
                  <a:lnTo>
                    <a:pt x="0" y="85567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470901" cy="8587577"/>
            </a:xfrm>
            <a:custGeom>
              <a:avLst/>
              <a:gdLst/>
              <a:ahLst/>
              <a:cxnLst/>
              <a:rect r="r" b="b" t="t" l="l"/>
              <a:pathLst>
                <a:path h="8587577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6945"/>
                    <a:pt x="7470901" y="15396"/>
                  </a:cubicBezTo>
                  <a:lnTo>
                    <a:pt x="7470901" y="8572182"/>
                  </a:lnTo>
                  <a:cubicBezTo>
                    <a:pt x="7470901" y="8580748"/>
                    <a:pt x="7463282" y="8587577"/>
                    <a:pt x="7454011" y="8587577"/>
                  </a:cubicBezTo>
                  <a:lnTo>
                    <a:pt x="16891" y="8587577"/>
                  </a:lnTo>
                  <a:cubicBezTo>
                    <a:pt x="7493" y="8587577"/>
                    <a:pt x="0" y="8580632"/>
                    <a:pt x="0" y="8572182"/>
                  </a:cubicBezTo>
                  <a:lnTo>
                    <a:pt x="0" y="15396"/>
                  </a:lnTo>
                  <a:cubicBezTo>
                    <a:pt x="0" y="6945"/>
                    <a:pt x="7620" y="0"/>
                    <a:pt x="16891" y="0"/>
                  </a:cubicBezTo>
                  <a:moveTo>
                    <a:pt x="16891" y="30907"/>
                  </a:moveTo>
                  <a:lnTo>
                    <a:pt x="16891" y="15396"/>
                  </a:lnTo>
                  <a:lnTo>
                    <a:pt x="33909" y="15396"/>
                  </a:lnTo>
                  <a:lnTo>
                    <a:pt x="33909" y="8572182"/>
                  </a:lnTo>
                  <a:lnTo>
                    <a:pt x="16891" y="8572182"/>
                  </a:lnTo>
                  <a:lnTo>
                    <a:pt x="16891" y="8556786"/>
                  </a:lnTo>
                  <a:lnTo>
                    <a:pt x="7454011" y="8556786"/>
                  </a:lnTo>
                  <a:lnTo>
                    <a:pt x="7454011" y="8572182"/>
                  </a:lnTo>
                  <a:lnTo>
                    <a:pt x="7437120" y="8572182"/>
                  </a:lnTo>
                  <a:lnTo>
                    <a:pt x="7437120" y="15396"/>
                  </a:lnTo>
                  <a:lnTo>
                    <a:pt x="7454011" y="15396"/>
                  </a:lnTo>
                  <a:lnTo>
                    <a:pt x="7454011" y="30907"/>
                  </a:lnTo>
                  <a:lnTo>
                    <a:pt x="16891" y="30907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13415" y="1925831"/>
            <a:ext cx="5603243" cy="720347"/>
            <a:chOff x="0" y="0"/>
            <a:chExt cx="7470991" cy="9604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70901" cy="960376"/>
            </a:xfrm>
            <a:custGeom>
              <a:avLst/>
              <a:gdLst/>
              <a:ahLst/>
              <a:cxnLst/>
              <a:rect r="r" b="b" t="t" l="l"/>
              <a:pathLst>
                <a:path h="960376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943483"/>
                  </a:lnTo>
                  <a:cubicBezTo>
                    <a:pt x="7470901" y="952881"/>
                    <a:pt x="7463282" y="960374"/>
                    <a:pt x="7454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454011" y="926592"/>
                  </a:lnTo>
                  <a:lnTo>
                    <a:pt x="7454011" y="943483"/>
                  </a:lnTo>
                  <a:lnTo>
                    <a:pt x="7437120" y="943483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B1F4B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72416" y="2029968"/>
            <a:ext cx="5303520" cy="512064"/>
            <a:chOff x="0" y="0"/>
            <a:chExt cx="707136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ETHICAL &amp; CLINICAL NOTES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13415" y="3246253"/>
            <a:ext cx="5120640" cy="3223919"/>
            <a:chOff x="0" y="0"/>
            <a:chExt cx="6827520" cy="429855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0" cy="4298558"/>
            </a:xfrm>
            <a:custGeom>
              <a:avLst/>
              <a:gdLst/>
              <a:ahLst/>
              <a:cxnLst/>
              <a:rect r="r" b="b" t="t" l="l"/>
              <a:pathLst>
                <a:path h="429855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298558"/>
                  </a:lnTo>
                  <a:lnTo>
                    <a:pt x="0" y="4298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923" t="0" r="-98923" b="-84359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6827520" cy="4403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3150"/>
                </a:lnSpc>
                <a:buFont typeface="Arial"/>
                <a:buChar char="•"/>
              </a:pPr>
              <a:r>
                <a:t>The target is imbalanced and episode IDs are inferred rather than provided.</a:t>
              </a:r>
            </a:p>
            <a:p>
              <a:r>
                <a:t>A literal zero-overfit claim is not supported; train PR-AUC 0.982 vs calibration PR-AUC 0.747.</a:t>
              </a:r>
            </a:p>
            <a:p>
              <a:r>
                <a:t>The dataset is tabular and de-identified, and no external patient data was added.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34775" y="8525926"/>
            <a:ext cx="17581883" cy="1214123"/>
            <a:chOff x="0" y="0"/>
            <a:chExt cx="23442511" cy="1618831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23442511" cy="1618831"/>
              <a:chOff x="0" y="0"/>
              <a:chExt cx="23442511" cy="161883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23408639" cy="1584960"/>
              </a:xfrm>
              <a:custGeom>
                <a:avLst/>
                <a:gdLst/>
                <a:ahLst/>
                <a:cxnLst/>
                <a:rect r="r" b="b" t="t" l="l"/>
                <a:pathLst>
                  <a:path h="1584960" w="23408639">
                    <a:moveTo>
                      <a:pt x="0" y="0"/>
                    </a:moveTo>
                    <a:lnTo>
                      <a:pt x="23408639" y="0"/>
                    </a:lnTo>
                    <a:lnTo>
                      <a:pt x="23408639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3442422" cy="1618742"/>
              </a:xfrm>
              <a:custGeom>
                <a:avLst/>
                <a:gdLst/>
                <a:ahLst/>
                <a:cxnLst/>
                <a:rect r="r" b="b" t="t" l="l"/>
                <a:pathLst>
                  <a:path h="1618742" w="23442422">
                    <a:moveTo>
                      <a:pt x="16891" y="0"/>
                    </a:moveTo>
                    <a:lnTo>
                      <a:pt x="23425530" y="0"/>
                    </a:lnTo>
                    <a:cubicBezTo>
                      <a:pt x="23434929" y="0"/>
                      <a:pt x="23442422" y="7620"/>
                      <a:pt x="23442422" y="16891"/>
                    </a:cubicBezTo>
                    <a:lnTo>
                      <a:pt x="23442422" y="1601851"/>
                    </a:lnTo>
                    <a:cubicBezTo>
                      <a:pt x="23442422" y="1611249"/>
                      <a:pt x="23434802" y="1618742"/>
                      <a:pt x="23425530" y="1618742"/>
                    </a:cubicBezTo>
                    <a:lnTo>
                      <a:pt x="16891" y="1618742"/>
                    </a:lnTo>
                    <a:cubicBezTo>
                      <a:pt x="7493" y="1618742"/>
                      <a:pt x="0" y="1611122"/>
                      <a:pt x="0" y="160185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01851"/>
                    </a:lnTo>
                    <a:lnTo>
                      <a:pt x="16891" y="1601851"/>
                    </a:lnTo>
                    <a:lnTo>
                      <a:pt x="16891" y="1584960"/>
                    </a:lnTo>
                    <a:lnTo>
                      <a:pt x="23425530" y="1584960"/>
                    </a:lnTo>
                    <a:lnTo>
                      <a:pt x="23425530" y="1601851"/>
                    </a:lnTo>
                    <a:lnTo>
                      <a:pt x="23408639" y="1601851"/>
                    </a:lnTo>
                    <a:lnTo>
                      <a:pt x="23408639" y="16891"/>
                    </a:lnTo>
                    <a:lnTo>
                      <a:pt x="23425530" y="16891"/>
                    </a:lnTo>
                    <a:lnTo>
                      <a:pt x="2342553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  <p:txBody>
              <a:bodyPr/>
              <a:p/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455841" y="114465"/>
              <a:ext cx="6827520" cy="536448"/>
              <a:chOff x="0" y="0"/>
              <a:chExt cx="6827520" cy="536448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6827520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7991" r="0" b="-197991"/>
                </a:stretch>
              </a:blipFill>
            </p:spPr>
            <p:txBody>
              <a:bodyPr/>
              <a:p/>
            </p:txBody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6827520" cy="5745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 spc="400">
                    <a:solidFill>
                      <a:srgbClr val="0D948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ANYTHING ELSE?</a:t>
                </a: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455841" y="675297"/>
              <a:ext cx="22189440" cy="731520"/>
              <a:chOff x="0" y="0"/>
              <a:chExt cx="22189440" cy="73152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2189439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22189439">
                    <a:moveTo>
                      <a:pt x="0" y="0"/>
                    </a:moveTo>
                    <a:lnTo>
                      <a:pt x="22189439" y="0"/>
                    </a:lnTo>
                    <a:lnTo>
                      <a:pt x="22189439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41046" r="0" b="-541046"/>
                </a:stretch>
              </a:blipFill>
            </p:spPr>
            <p:txBody>
              <a:bodyPr/>
              <a:p/>
            </p:txBody>
          </p:sp>
          <p:sp>
            <p:nvSpPr>
              <p:cNvPr name="TextBox 68" id="68"/>
              <p:cNvSpPr txBox="true"/>
              <p:nvPr/>
            </p:nvSpPr>
            <p:spPr>
              <a:xfrm>
                <a:off x="0" y="-47625"/>
                <a:ext cx="2218944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t>Submission note: only the official provided CSV dataset was used for training and evaluation.</a:t>
                </a:r>
              </a:p>
              <a:p>
                <a:r>
                  <a:t>Final best model: focused_subsample_lr0048_iter1450 with PR-AUC 0.740, ROC-AUC 0.963, and alert F1 0.712.</a:t>
                </a:r>
              </a:p>
            </p:txBody>
          </p:sp>
        </p:grpSp>
      </p:grpSp>
      <p:grpSp>
        <p:nvGrpSpPr>
          <p:cNvPr name="Group 69" id="69"/>
          <p:cNvGrpSpPr/>
          <p:nvPr/>
        </p:nvGrpSpPr>
        <p:grpSpPr>
          <a:xfrm rot="0">
            <a:off x="15483655" y="168945"/>
            <a:ext cx="2433003" cy="1028252"/>
            <a:chOff x="0" y="0"/>
            <a:chExt cx="3244004" cy="1371003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22774"/>
              <a:ext cx="3244004" cy="1244204"/>
              <a:chOff x="0" y="0"/>
              <a:chExt cx="1366708" cy="524187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366708" cy="524187"/>
              </a:xfrm>
              <a:custGeom>
                <a:avLst/>
                <a:gdLst/>
                <a:ahLst/>
                <a:cxnLst/>
                <a:rect r="r" b="b" t="t" l="l"/>
                <a:pathLst>
                  <a:path h="524187" w="1366708">
                    <a:moveTo>
                      <a:pt x="0" y="0"/>
                    </a:moveTo>
                    <a:lnTo>
                      <a:pt x="1366708" y="0"/>
                    </a:lnTo>
                    <a:lnTo>
                      <a:pt x="1366708" y="524187"/>
                    </a:lnTo>
                    <a:lnTo>
                      <a:pt x="0" y="5241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1366708" cy="562287"/>
              </a:xfrm>
              <a:prstGeom prst="rect">
                <a:avLst/>
              </a:prstGeom>
            </p:spPr>
            <p:txBody>
              <a:bodyPr anchor="ctr" rtlCol="false" tIns="22431" lIns="22431" bIns="22431" rIns="22431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44004" cy="1371003"/>
            </a:xfrm>
            <a:custGeom>
              <a:avLst/>
              <a:gdLst/>
              <a:ahLst/>
              <a:cxnLst/>
              <a:rect r="r" b="b" t="t" l="l"/>
              <a:pathLst>
                <a:path h="1371003" w="3244004">
                  <a:moveTo>
                    <a:pt x="0" y="0"/>
                  </a:moveTo>
                  <a:lnTo>
                    <a:pt x="3244004" y="0"/>
                  </a:lnTo>
                  <a:lnTo>
                    <a:pt x="3244004" y="1371003"/>
                  </a:lnTo>
                  <a:lnTo>
                    <a:pt x="0" y="137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353063" y="49406"/>
            <a:ext cx="1251554" cy="1267330"/>
          </a:xfrm>
          <a:custGeom>
            <a:avLst/>
            <a:gdLst/>
            <a:ahLst/>
            <a:cxnLst/>
            <a:rect r="r" b="b" t="t" l="l"/>
            <a:pathLst>
              <a:path h="1267330" w="1251554">
                <a:moveTo>
                  <a:pt x="0" y="0"/>
                </a:moveTo>
                <a:lnTo>
                  <a:pt x="1251554" y="0"/>
                </a:lnTo>
                <a:lnTo>
                  <a:pt x="1251554" y="1267330"/>
                </a:lnTo>
                <a:lnTo>
                  <a:pt x="0" y="126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DAHE8Musvow</dc:identifier>
  <dcterms:modified xsi:type="dcterms:W3CDTF">2011-08-01T06:04:30Z</dcterms:modified>
  <cp:revision>1</cp:revision>
  <dc:title>AesCodeNexus_Round1_Template_v2_1.pptx</dc:title>
</cp:coreProperties>
</file>